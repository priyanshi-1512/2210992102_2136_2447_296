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3"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Slide0">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sterSlide0">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Times New Roman" panose="02020603050405020304" pitchFamily="18" charset="0"/>
            </a:endParaRPr>
          </a:p>
        </p:txBody>
      </p:sp>
      <p:sp>
        <p:nvSpPr>
          <p:cNvPr id="12"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Slide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MasterSlide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 Id="rId5" Type="http://schemas.openxmlformats.org/officeDocument/2006/relationships/image" Target="../media/image3.jpeg"/><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reeform: Shape 10"/>
          <p:cNvSpPr/>
          <p:nvPr/>
        </p:nvSpPr>
        <p:spPr>
          <a:xfrm>
            <a:off x="0" y="0"/>
            <a:ext cx="9144360" cy="838440"/>
          </a:xfrm>
          <a:custGeom>
            <a:avLst/>
            <a:gdLst/>
            <a:ahLst/>
            <a:cxnLst/>
            <a:rect l="0" t="0" r="r" b="b"/>
            <a:pathLst>
              <a:path w="25401" h="2329">
                <a:moveTo>
                  <a:pt x="25401" y="0"/>
                </a:moveTo>
                <a:lnTo>
                  <a:pt x="0" y="0"/>
                </a:lnTo>
                <a:lnTo>
                  <a:pt x="0" y="2329"/>
                </a:lnTo>
                <a:lnTo>
                  <a:pt x="25401" y="2329"/>
                </a:lnTo>
                <a:lnTo>
                  <a:pt x="25401"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sp>
        <p:nvSpPr>
          <p:cNvPr id="12" name="Freeform: Shape 11"/>
          <p:cNvSpPr/>
          <p:nvPr/>
        </p:nvSpPr>
        <p:spPr>
          <a:xfrm>
            <a:off x="0" y="6703920"/>
            <a:ext cx="9144360" cy="154440"/>
          </a:xfrm>
          <a:custGeom>
            <a:avLst/>
            <a:gdLst/>
            <a:ahLst/>
            <a:cxnLst/>
            <a:rect l="0" t="0" r="r" b="b"/>
            <a:pathLst>
              <a:path w="25401" h="429">
                <a:moveTo>
                  <a:pt x="25401" y="0"/>
                </a:moveTo>
                <a:lnTo>
                  <a:pt x="0" y="0"/>
                </a:lnTo>
                <a:lnTo>
                  <a:pt x="0" y="429"/>
                </a:lnTo>
                <a:lnTo>
                  <a:pt x="25401" y="429"/>
                </a:lnTo>
                <a:lnTo>
                  <a:pt x="25401" y="0"/>
                </a:lnTo>
                <a:close/>
              </a:path>
            </a:pathLst>
          </a:custGeom>
          <a:solidFill>
            <a:srgbClr val="FF00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2" name="Picture 1"/>
          <p:cNvPicPr/>
          <p:nvPr/>
        </p:nvPicPr>
        <p:blipFill>
          <a:blip r:embed="rId4"/>
          <a:stretch/>
        </p:blipFill>
        <p:spPr>
          <a:xfrm>
            <a:off x="6553080" y="228600"/>
            <a:ext cx="2057400" cy="635040"/>
          </a:xfrm>
          <a:prstGeom prst="rect">
            <a:avLst/>
          </a:prstGeom>
          <a:ln w="0">
            <a:noFill/>
          </a:ln>
        </p:spPr>
      </p:pic>
      <p:pic>
        <p:nvPicPr>
          <p:cNvPr id="3" name="Picture 2"/>
          <p:cNvPicPr/>
          <p:nvPr/>
        </p:nvPicPr>
        <p:blipFill>
          <a:blip r:embed="rId5"/>
          <a:stretch/>
        </p:blipFill>
        <p:spPr>
          <a:xfrm>
            <a:off x="6553080" y="228600"/>
            <a:ext cx="1920960" cy="609480"/>
          </a:xfrm>
          <a:prstGeom prst="rect">
            <a:avLst/>
          </a:prstGeom>
          <a:ln w="0">
            <a:noFill/>
          </a:ln>
        </p:spPr>
      </p:pic>
      <p:pic>
        <p:nvPicPr>
          <p:cNvPr id="4" name="Picture 3"/>
          <p:cNvPicPr/>
          <p:nvPr/>
        </p:nvPicPr>
        <p:blipFill>
          <a:blip r:embed="rId6"/>
          <a:stretch/>
        </p:blipFill>
        <p:spPr>
          <a:xfrm>
            <a:off x="6553080" y="228600"/>
            <a:ext cx="2057400" cy="635040"/>
          </a:xfrm>
          <a:prstGeom prst="rect">
            <a:avLst/>
          </a:prstGeom>
          <a:ln w="0">
            <a:noFill/>
          </a:ln>
        </p:spPr>
      </p:pic>
      <p:sp>
        <p:nvSpPr>
          <p:cNvPr id="5" name="Freeform: Shape 4"/>
          <p:cNvSpPr/>
          <p:nvPr/>
        </p:nvSpPr>
        <p:spPr>
          <a:xfrm>
            <a:off x="6146640" y="0"/>
            <a:ext cx="2997720" cy="838440"/>
          </a:xfrm>
          <a:custGeom>
            <a:avLst/>
            <a:gdLst/>
            <a:ahLst/>
            <a:cxnLst/>
            <a:rect l="0" t="0" r="r" b="b"/>
            <a:pathLst>
              <a:path w="8327" h="2329">
                <a:moveTo>
                  <a:pt x="8327" y="0"/>
                </a:moveTo>
                <a:lnTo>
                  <a:pt x="0" y="0"/>
                </a:lnTo>
                <a:lnTo>
                  <a:pt x="0" y="2329"/>
                </a:lnTo>
                <a:lnTo>
                  <a:pt x="8327" y="2329"/>
                </a:lnTo>
                <a:lnTo>
                  <a:pt x="8327"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6" name="Picture 5"/>
          <p:cNvPicPr/>
          <p:nvPr/>
        </p:nvPicPr>
        <p:blipFill>
          <a:blip r:embed="rId6"/>
          <a:stretch/>
        </p:blipFill>
        <p:spPr>
          <a:xfrm>
            <a:off x="6553440" y="228960"/>
            <a:ext cx="2057040" cy="635040"/>
          </a:xfrm>
          <a:prstGeom prst="rect">
            <a:avLst/>
          </a:prstGeom>
          <a:ln w="0">
            <a:noFill/>
          </a:ln>
        </p:spPr>
      </p:pic>
      <p:sp>
        <p:nvSpPr>
          <p:cNvPr id="7" name="Freeform: Shape 6"/>
          <p:cNvSpPr/>
          <p:nvPr/>
        </p:nvSpPr>
        <p:spPr>
          <a:xfrm>
            <a:off x="6528240" y="190440"/>
            <a:ext cx="2076840" cy="686160"/>
          </a:xfrm>
          <a:custGeom>
            <a:avLst/>
            <a:gdLst/>
            <a:ahLst/>
            <a:cxnLst/>
            <a:rect l="0" t="0" r="r" b="b"/>
            <a:pathLst>
              <a:path w="5769" h="1906">
                <a:moveTo>
                  <a:pt x="5769" y="0"/>
                </a:moveTo>
                <a:lnTo>
                  <a:pt x="0" y="0"/>
                </a:lnTo>
                <a:lnTo>
                  <a:pt x="0" y="1906"/>
                </a:lnTo>
                <a:lnTo>
                  <a:pt x="5769" y="1906"/>
                </a:lnTo>
                <a:lnTo>
                  <a:pt x="5769" y="0"/>
                </a:lnTo>
                <a:close/>
              </a:path>
            </a:pathLst>
          </a:custGeom>
          <a:solidFill>
            <a:srgbClr val="FFFFFF"/>
          </a:solidFill>
          <a:ln w="0">
            <a:noFill/>
          </a:ln>
        </p:spPr>
        <p:txBody>
          <a:bodyPr lIns="90000" tIns="45000" rIns="90000" bIns="45000" anchor="t">
            <a:noAutofit/>
          </a:bodyPr>
          <a:lstStyle/>
          <a:p>
            <a:endParaRPr lang="en-US" sz="1800" b="0" strike="noStrike" spc="-1">
              <a:solidFill>
                <a:srgbClr val="000000"/>
              </a:solidFill>
              <a:latin typeface="Times New Roman" panose="02020603050405020304" pitchFamily="18" charset="0"/>
            </a:endParaRPr>
          </a:p>
        </p:txBody>
      </p:sp>
      <p:pic>
        <p:nvPicPr>
          <p:cNvPr id="8" name="Picture 7"/>
          <p:cNvPicPr/>
          <p:nvPr/>
        </p:nvPicPr>
        <p:blipFill>
          <a:blip r:embed="rId5"/>
          <a:stretch/>
        </p:blipFill>
        <p:spPr>
          <a:xfrm>
            <a:off x="6553080" y="228600"/>
            <a:ext cx="1920960" cy="609480"/>
          </a:xfrm>
          <a:prstGeom prst="rect">
            <a:avLst/>
          </a:prstGeom>
          <a:ln w="0">
            <a:noFill/>
          </a:ln>
        </p:spPr>
      </p:pic>
      <p:sp>
        <p:nvSpPr>
          <p:cNvPr id="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Times New Roman" panose="02020603050405020304" pitchFamily="18" charset="0"/>
              </a:rPr>
              <a:t>Click to edit the title text format</a:t>
            </a:r>
          </a:p>
        </p:txBody>
      </p:sp>
      <p:sp>
        <p:nvSpPr>
          <p:cNvPr id="10"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Times New Roman" panose="02020603050405020304" pitchFamily="18" charset="0"/>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Times New Roman" panose="02020603050405020304" pitchFamily="18" charset="0"/>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Times New Roman" panose="02020603050405020304" pitchFamily="18" charset="0"/>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Times New Roman" panose="02020603050405020304" pitchFamily="18" charset="0"/>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Freeform: Shape 12"/>
          <p:cNvSpPr/>
          <p:nvPr/>
        </p:nvSpPr>
        <p:spPr>
          <a:xfrm>
            <a:off x="0" y="0"/>
            <a:ext cx="9144360" cy="838440"/>
          </a:xfrm>
          <a:custGeom>
            <a:avLst/>
            <a:gdLst/>
            <a:ahLst/>
            <a:cxnLst/>
            <a:rect l="0" t="0" r="r" b="b"/>
            <a:pathLst>
              <a:path w="25401" h="2329">
                <a:moveTo>
                  <a:pt x="25401" y="0"/>
                </a:moveTo>
                <a:lnTo>
                  <a:pt x="0" y="0"/>
                </a:lnTo>
                <a:lnTo>
                  <a:pt x="0" y="2329"/>
                </a:lnTo>
                <a:lnTo>
                  <a:pt x="25401" y="2329"/>
                </a:lnTo>
                <a:lnTo>
                  <a:pt x="25401"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sp>
        <p:nvSpPr>
          <p:cNvPr id="14" name="Freeform: Shape 13"/>
          <p:cNvSpPr/>
          <p:nvPr/>
        </p:nvSpPr>
        <p:spPr>
          <a:xfrm>
            <a:off x="0" y="6703920"/>
            <a:ext cx="9144360" cy="154440"/>
          </a:xfrm>
          <a:custGeom>
            <a:avLst/>
            <a:gdLst/>
            <a:ahLst/>
            <a:cxnLst/>
            <a:rect l="0" t="0" r="r" b="b"/>
            <a:pathLst>
              <a:path w="25401" h="429">
                <a:moveTo>
                  <a:pt x="25401" y="0"/>
                </a:moveTo>
                <a:lnTo>
                  <a:pt x="0" y="0"/>
                </a:lnTo>
                <a:lnTo>
                  <a:pt x="0" y="429"/>
                </a:lnTo>
                <a:lnTo>
                  <a:pt x="25401" y="429"/>
                </a:lnTo>
                <a:lnTo>
                  <a:pt x="25401" y="0"/>
                </a:lnTo>
                <a:close/>
              </a:path>
            </a:pathLst>
          </a:custGeom>
          <a:solidFill>
            <a:srgbClr val="FF00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15" name="Picture 14"/>
          <p:cNvPicPr/>
          <p:nvPr/>
        </p:nvPicPr>
        <p:blipFill>
          <a:blip r:embed="rId3"/>
          <a:stretch/>
        </p:blipFill>
        <p:spPr>
          <a:xfrm>
            <a:off x="6553080" y="228600"/>
            <a:ext cx="2057400" cy="635040"/>
          </a:xfrm>
          <a:prstGeom prst="rect">
            <a:avLst/>
          </a:prstGeom>
          <a:ln w="0">
            <a:noFill/>
          </a:ln>
        </p:spPr>
      </p:pic>
      <p:pic>
        <p:nvPicPr>
          <p:cNvPr id="16" name="Picture 15"/>
          <p:cNvPicPr/>
          <p:nvPr/>
        </p:nvPicPr>
        <p:blipFill>
          <a:blip r:embed="rId4"/>
          <a:stretch/>
        </p:blipFill>
        <p:spPr>
          <a:xfrm>
            <a:off x="6553080" y="228600"/>
            <a:ext cx="1920960" cy="609480"/>
          </a:xfrm>
          <a:prstGeom prst="rect">
            <a:avLst/>
          </a:prstGeom>
          <a:ln w="0">
            <a:noFill/>
          </a:ln>
        </p:spPr>
      </p:pic>
      <p:pic>
        <p:nvPicPr>
          <p:cNvPr id="17" name="Picture 16"/>
          <p:cNvPicPr/>
          <p:nvPr/>
        </p:nvPicPr>
        <p:blipFill>
          <a:blip r:embed="rId5"/>
          <a:stretch/>
        </p:blipFill>
        <p:spPr>
          <a:xfrm>
            <a:off x="6553080" y="228600"/>
            <a:ext cx="2057400" cy="635040"/>
          </a:xfrm>
          <a:prstGeom prst="rect">
            <a:avLst/>
          </a:prstGeom>
          <a:ln w="0">
            <a:noFill/>
          </a:ln>
        </p:spPr>
      </p:pic>
      <p:sp>
        <p:nvSpPr>
          <p:cNvPr id="18" name="Freeform: Shape 17"/>
          <p:cNvSpPr/>
          <p:nvPr/>
        </p:nvSpPr>
        <p:spPr>
          <a:xfrm>
            <a:off x="6146640" y="0"/>
            <a:ext cx="2997720" cy="838440"/>
          </a:xfrm>
          <a:custGeom>
            <a:avLst/>
            <a:gdLst/>
            <a:ahLst/>
            <a:cxnLst/>
            <a:rect l="0" t="0" r="r" b="b"/>
            <a:pathLst>
              <a:path w="8327" h="2329">
                <a:moveTo>
                  <a:pt x="8327" y="0"/>
                </a:moveTo>
                <a:lnTo>
                  <a:pt x="0" y="0"/>
                </a:lnTo>
                <a:lnTo>
                  <a:pt x="0" y="2329"/>
                </a:lnTo>
                <a:lnTo>
                  <a:pt x="8327" y="2329"/>
                </a:lnTo>
                <a:lnTo>
                  <a:pt x="8327"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19" name="Picture 18"/>
          <p:cNvPicPr/>
          <p:nvPr/>
        </p:nvPicPr>
        <p:blipFill>
          <a:blip r:embed="rId5"/>
          <a:stretch/>
        </p:blipFill>
        <p:spPr>
          <a:xfrm>
            <a:off x="6553440" y="228960"/>
            <a:ext cx="2057040" cy="635040"/>
          </a:xfrm>
          <a:prstGeom prst="rect">
            <a:avLst/>
          </a:prstGeom>
          <a:ln w="0">
            <a:noFill/>
          </a:ln>
        </p:spPr>
      </p:pic>
      <p:sp>
        <p:nvSpPr>
          <p:cNvPr id="20" name="Freeform: Shape 19"/>
          <p:cNvSpPr/>
          <p:nvPr/>
        </p:nvSpPr>
        <p:spPr>
          <a:xfrm>
            <a:off x="6528240" y="190440"/>
            <a:ext cx="2076840" cy="686160"/>
          </a:xfrm>
          <a:custGeom>
            <a:avLst/>
            <a:gdLst/>
            <a:ahLst/>
            <a:cxnLst/>
            <a:rect l="0" t="0" r="r" b="b"/>
            <a:pathLst>
              <a:path w="5769" h="1906">
                <a:moveTo>
                  <a:pt x="5769" y="0"/>
                </a:moveTo>
                <a:lnTo>
                  <a:pt x="0" y="0"/>
                </a:lnTo>
                <a:lnTo>
                  <a:pt x="0" y="1906"/>
                </a:lnTo>
                <a:lnTo>
                  <a:pt x="5769" y="1906"/>
                </a:lnTo>
                <a:lnTo>
                  <a:pt x="5769" y="0"/>
                </a:lnTo>
                <a:close/>
              </a:path>
            </a:pathLst>
          </a:custGeom>
          <a:solidFill>
            <a:srgbClr val="FFFFFF"/>
          </a:solidFill>
          <a:ln w="0">
            <a:noFill/>
          </a:ln>
        </p:spPr>
        <p:txBody>
          <a:bodyPr lIns="90000" tIns="45000" rIns="90000" bIns="45000" anchor="t">
            <a:noAutofit/>
          </a:bodyPr>
          <a:lstStyle/>
          <a:p>
            <a:endParaRPr lang="en-US" sz="1800" b="0" strike="noStrike" spc="-1">
              <a:solidFill>
                <a:srgbClr val="000000"/>
              </a:solidFill>
              <a:latin typeface="Times New Roman" panose="02020603050405020304" pitchFamily="18" charset="0"/>
            </a:endParaRPr>
          </a:p>
        </p:txBody>
      </p:sp>
      <p:pic>
        <p:nvPicPr>
          <p:cNvPr id="21" name="Picture 20"/>
          <p:cNvPicPr/>
          <p:nvPr/>
        </p:nvPicPr>
        <p:blipFill>
          <a:blip r:embed="rId4"/>
          <a:stretch/>
        </p:blipFill>
        <p:spPr>
          <a:xfrm>
            <a:off x="6553080" y="228600"/>
            <a:ext cx="1920960" cy="609480"/>
          </a:xfrm>
          <a:prstGeom prst="rect">
            <a:avLst/>
          </a:prstGeom>
          <a:ln w="0">
            <a:noFill/>
          </a:ln>
        </p:spPr>
      </p:pic>
      <p:sp>
        <p:nvSpPr>
          <p:cNvPr id="2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Times New Roman" panose="02020603050405020304" pitchFamily="18" charset="0"/>
              </a:rPr>
              <a:t>Click to edit the title text format</a:t>
            </a:r>
          </a:p>
        </p:txBody>
      </p:sp>
      <p:sp>
        <p:nvSpPr>
          <p:cNvPr id="23"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Times New Roman" panose="02020603050405020304" pitchFamily="18" charset="0"/>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Times New Roman" panose="02020603050405020304" pitchFamily="18" charset="0"/>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Times New Roman" panose="02020603050405020304" pitchFamily="18" charset="0"/>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Times New Roman" panose="02020603050405020304" pitchFamily="18" charset="0"/>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Seventh Outline Level</a:t>
            </a: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Freeform: Shape 23"/>
          <p:cNvSpPr/>
          <p:nvPr/>
        </p:nvSpPr>
        <p:spPr>
          <a:xfrm>
            <a:off x="0" y="0"/>
            <a:ext cx="9144360" cy="838440"/>
          </a:xfrm>
          <a:custGeom>
            <a:avLst/>
            <a:gdLst/>
            <a:ahLst/>
            <a:cxnLst/>
            <a:rect l="0" t="0" r="r" b="b"/>
            <a:pathLst>
              <a:path w="25401" h="2329">
                <a:moveTo>
                  <a:pt x="25401" y="0"/>
                </a:moveTo>
                <a:lnTo>
                  <a:pt x="0" y="0"/>
                </a:lnTo>
                <a:lnTo>
                  <a:pt x="0" y="2329"/>
                </a:lnTo>
                <a:lnTo>
                  <a:pt x="25401" y="2329"/>
                </a:lnTo>
                <a:lnTo>
                  <a:pt x="25401"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sp>
        <p:nvSpPr>
          <p:cNvPr id="25" name="Freeform: Shape 24"/>
          <p:cNvSpPr/>
          <p:nvPr/>
        </p:nvSpPr>
        <p:spPr>
          <a:xfrm>
            <a:off x="0" y="6703920"/>
            <a:ext cx="9144360" cy="154440"/>
          </a:xfrm>
          <a:custGeom>
            <a:avLst/>
            <a:gdLst/>
            <a:ahLst/>
            <a:cxnLst/>
            <a:rect l="0" t="0" r="r" b="b"/>
            <a:pathLst>
              <a:path w="25401" h="429">
                <a:moveTo>
                  <a:pt x="25401" y="0"/>
                </a:moveTo>
                <a:lnTo>
                  <a:pt x="0" y="0"/>
                </a:lnTo>
                <a:lnTo>
                  <a:pt x="0" y="429"/>
                </a:lnTo>
                <a:lnTo>
                  <a:pt x="25401" y="429"/>
                </a:lnTo>
                <a:lnTo>
                  <a:pt x="25401" y="0"/>
                </a:lnTo>
                <a:close/>
              </a:path>
            </a:pathLst>
          </a:custGeom>
          <a:solidFill>
            <a:srgbClr val="FF00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26" name="Picture 25"/>
          <p:cNvPicPr/>
          <p:nvPr/>
        </p:nvPicPr>
        <p:blipFill>
          <a:blip r:embed="rId3"/>
          <a:stretch/>
        </p:blipFill>
        <p:spPr>
          <a:xfrm>
            <a:off x="6553080" y="228600"/>
            <a:ext cx="2057400" cy="635040"/>
          </a:xfrm>
          <a:prstGeom prst="rect">
            <a:avLst/>
          </a:prstGeom>
          <a:ln w="0">
            <a:noFill/>
          </a:ln>
        </p:spPr>
      </p:pic>
      <p:pic>
        <p:nvPicPr>
          <p:cNvPr id="27" name="Picture 26"/>
          <p:cNvPicPr/>
          <p:nvPr/>
        </p:nvPicPr>
        <p:blipFill>
          <a:blip r:embed="rId4"/>
          <a:stretch/>
        </p:blipFill>
        <p:spPr>
          <a:xfrm>
            <a:off x="6553080" y="228600"/>
            <a:ext cx="1920960" cy="609480"/>
          </a:xfrm>
          <a:prstGeom prst="rect">
            <a:avLst/>
          </a:prstGeom>
          <a:ln w="0">
            <a:noFill/>
          </a:ln>
        </p:spPr>
      </p:pic>
      <p:pic>
        <p:nvPicPr>
          <p:cNvPr id="28" name="Picture 27"/>
          <p:cNvPicPr/>
          <p:nvPr/>
        </p:nvPicPr>
        <p:blipFill>
          <a:blip r:embed="rId5"/>
          <a:stretch/>
        </p:blipFill>
        <p:spPr>
          <a:xfrm>
            <a:off x="6553080" y="228600"/>
            <a:ext cx="2057400" cy="635040"/>
          </a:xfrm>
          <a:prstGeom prst="rect">
            <a:avLst/>
          </a:prstGeom>
          <a:ln w="0">
            <a:noFill/>
          </a:ln>
        </p:spPr>
      </p:pic>
      <p:sp>
        <p:nvSpPr>
          <p:cNvPr id="29" name="Freeform: Shape 28"/>
          <p:cNvSpPr/>
          <p:nvPr/>
        </p:nvSpPr>
        <p:spPr>
          <a:xfrm>
            <a:off x="6146640" y="0"/>
            <a:ext cx="2997720" cy="838440"/>
          </a:xfrm>
          <a:custGeom>
            <a:avLst/>
            <a:gdLst/>
            <a:ahLst/>
            <a:cxnLst/>
            <a:rect l="0" t="0" r="r" b="b"/>
            <a:pathLst>
              <a:path w="8327" h="2329">
                <a:moveTo>
                  <a:pt x="8327" y="0"/>
                </a:moveTo>
                <a:lnTo>
                  <a:pt x="0" y="0"/>
                </a:lnTo>
                <a:lnTo>
                  <a:pt x="0" y="2329"/>
                </a:lnTo>
                <a:lnTo>
                  <a:pt x="8327" y="2329"/>
                </a:lnTo>
                <a:lnTo>
                  <a:pt x="8327" y="0"/>
                </a:lnTo>
                <a:close/>
              </a:path>
            </a:pathLst>
          </a:custGeom>
          <a:solidFill>
            <a:srgbClr val="FF3200"/>
          </a:solidFill>
          <a:ln w="0">
            <a:noFill/>
          </a:ln>
        </p:spPr>
        <p:txBody>
          <a:bodyPr lIns="90000" tIns="45000" rIns="90000" bIns="45000" anchor="t">
            <a:noAutofit/>
          </a:bodyPr>
          <a:lstStyle/>
          <a:p>
            <a:endParaRPr lang="en-US" sz="1800" b="0" strike="noStrike" spc="-1">
              <a:solidFill>
                <a:srgbClr val="FFFFFF"/>
              </a:solidFill>
              <a:latin typeface="Times New Roman" panose="02020603050405020304" pitchFamily="18" charset="0"/>
            </a:endParaRPr>
          </a:p>
        </p:txBody>
      </p:sp>
      <p:pic>
        <p:nvPicPr>
          <p:cNvPr id="30" name="Picture 29"/>
          <p:cNvPicPr/>
          <p:nvPr/>
        </p:nvPicPr>
        <p:blipFill>
          <a:blip r:embed="rId5"/>
          <a:stretch/>
        </p:blipFill>
        <p:spPr>
          <a:xfrm>
            <a:off x="6553440" y="228960"/>
            <a:ext cx="2057040" cy="635040"/>
          </a:xfrm>
          <a:prstGeom prst="rect">
            <a:avLst/>
          </a:prstGeom>
          <a:ln w="0">
            <a:noFill/>
          </a:ln>
        </p:spPr>
      </p:pic>
      <p:sp>
        <p:nvSpPr>
          <p:cNvPr id="31" name="Freeform: Shape 30"/>
          <p:cNvSpPr/>
          <p:nvPr/>
        </p:nvSpPr>
        <p:spPr>
          <a:xfrm>
            <a:off x="6528240" y="190440"/>
            <a:ext cx="2076840" cy="686160"/>
          </a:xfrm>
          <a:custGeom>
            <a:avLst/>
            <a:gdLst/>
            <a:ahLst/>
            <a:cxnLst/>
            <a:rect l="0" t="0" r="r" b="b"/>
            <a:pathLst>
              <a:path w="5769" h="1906">
                <a:moveTo>
                  <a:pt x="5769" y="0"/>
                </a:moveTo>
                <a:lnTo>
                  <a:pt x="0" y="0"/>
                </a:lnTo>
                <a:lnTo>
                  <a:pt x="0" y="1906"/>
                </a:lnTo>
                <a:lnTo>
                  <a:pt x="5769" y="1906"/>
                </a:lnTo>
                <a:lnTo>
                  <a:pt x="5769" y="0"/>
                </a:lnTo>
                <a:close/>
              </a:path>
            </a:pathLst>
          </a:custGeom>
          <a:solidFill>
            <a:srgbClr val="FFFFFF"/>
          </a:solidFill>
          <a:ln w="0">
            <a:noFill/>
          </a:ln>
        </p:spPr>
        <p:txBody>
          <a:bodyPr lIns="90000" tIns="45000" rIns="90000" bIns="45000" anchor="t">
            <a:noAutofit/>
          </a:bodyPr>
          <a:lstStyle/>
          <a:p>
            <a:endParaRPr lang="en-US" sz="1800" b="0" strike="noStrike" spc="-1">
              <a:solidFill>
                <a:srgbClr val="000000"/>
              </a:solidFill>
              <a:latin typeface="Times New Roman" panose="02020603050405020304" pitchFamily="18" charset="0"/>
            </a:endParaRPr>
          </a:p>
        </p:txBody>
      </p:sp>
      <p:pic>
        <p:nvPicPr>
          <p:cNvPr id="32" name="Picture 31"/>
          <p:cNvPicPr/>
          <p:nvPr/>
        </p:nvPicPr>
        <p:blipFill>
          <a:blip r:embed="rId4"/>
          <a:stretch/>
        </p:blipFill>
        <p:spPr>
          <a:xfrm>
            <a:off x="6553080" y="228600"/>
            <a:ext cx="1920960" cy="609480"/>
          </a:xfrm>
          <a:prstGeom prst="rect">
            <a:avLst/>
          </a:prstGeom>
          <a:ln w="0">
            <a:noFill/>
          </a:ln>
        </p:spPr>
      </p:pic>
      <p:sp>
        <p:nvSpPr>
          <p:cNvPr id="3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Times New Roman" panose="02020603050405020304" pitchFamily="18" charset="0"/>
              </a:rPr>
              <a:t>Click to edit the title text format</a:t>
            </a:r>
          </a:p>
        </p:txBody>
      </p:sp>
      <p:sp>
        <p:nvSpPr>
          <p:cNvPr id="34"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Times New Roman" panose="02020603050405020304" pitchFamily="18" charset="0"/>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Times New Roman" panose="02020603050405020304" pitchFamily="18" charset="0"/>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Times New Roman" panose="02020603050405020304" pitchFamily="18" charset="0"/>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Times New Roman" panose="02020603050405020304" pitchFamily="18" charset="0"/>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Times New Roman" panose="02020603050405020304" pitchFamily="18" charset="0"/>
              </a:rPr>
              <a:t>Seventh Outline Level</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Area"/>
          <p:cNvSpPr txBox="1"/>
          <p:nvPr/>
        </p:nvSpPr>
        <p:spPr>
          <a:xfrm>
            <a:off x="0" y="840631"/>
            <a:ext cx="9144000" cy="1700000"/>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600" b="1" dirty="0">
                <a:latin typeface="Times New Roman" panose="02020603050405020304" pitchFamily="18" charset="0"/>
                <a:ea typeface="Calibri" panose="020F0502020204030204" pitchFamily="34" charset="0"/>
                <a:cs typeface="Times New Roman" panose="02020603050405020304" pitchFamily="18" charset="0"/>
              </a:rPr>
              <a:t>Performance Analysis of JVM Garbage Collectors</a:t>
            </a:r>
          </a:p>
        </p:txBody>
      </p:sp>
      <p:graphicFrame>
        <p:nvGraphicFramePr>
          <p:cNvPr id="5" name="AuthorsTable"/>
          <p:cNvGraphicFramePr>
            <a:graphicFrameLocks noGrp="1"/>
          </p:cNvGraphicFramePr>
          <p:nvPr/>
        </p:nvGraphicFramePr>
        <p:xfrm>
          <a:off x="1872000" y="2750000"/>
          <a:ext cx="5400000" cy="124128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3500000">
                  <a:extLst>
                    <a:ext uri="{9D8B030D-6E8A-4147-A177-3AD203B41FA5}">
                      <a16:colId xmlns:a16="http://schemas.microsoft.com/office/drawing/2014/main" val="20001"/>
                    </a:ext>
                  </a:extLst>
                </a:gridCol>
              </a:tblGrid>
              <a:tr h="280000">
                <a:tc>
                  <a:txBody>
                    <a:bodyPr/>
                    <a:lstStyle/>
                    <a:p>
                      <a:pPr algn="l"/>
                      <a:r>
                        <a:rPr lang="en-US" sz="1800" dirty="0">
                          <a:solidFill>
                            <a:srgbClr val="000000"/>
                          </a:solidFill>
                          <a:latin typeface="Times New Roman"/>
                          <a:cs typeface="Times New Roman"/>
                        </a:rPr>
                        <a:t>Priyanshi Jain</a:t>
                      </a:r>
                    </a:p>
                  </a:txBody>
                  <a:tcPr marL="36000" marR="36000" marT="18000" marB="18000">
                    <a:lnL w="0">
                      <a:noFill/>
                    </a:lnL>
                    <a:lnR w="0">
                      <a:noFill/>
                    </a:lnR>
                    <a:lnT w="0">
                      <a:noFill/>
                    </a:lnT>
                    <a:lnB w="0">
                      <a:noFill/>
                    </a:lnB>
                    <a:noFill/>
                  </a:tcPr>
                </a:tc>
                <a:tc>
                  <a:txBody>
                    <a:bodyPr/>
                    <a:lstStyle/>
                    <a:p>
                      <a:pPr algn="l"/>
                      <a:r>
                        <a:rPr lang="en-US" sz="1800" dirty="0">
                          <a:solidFill>
                            <a:srgbClr val="000000"/>
                          </a:solidFill>
                          <a:latin typeface="Times New Roman"/>
                          <a:cs typeface="Times New Roman"/>
                        </a:rPr>
                        <a:t>jpriya1530@gmail.com</a:t>
                      </a:r>
                    </a:p>
                  </a:txBody>
                  <a:tcPr marL="36000" marR="36000" marT="18000" marB="18000">
                    <a:lnL w="0">
                      <a:noFill/>
                    </a:lnL>
                    <a:lnR w="0">
                      <a:noFill/>
                    </a:lnR>
                    <a:lnT w="0">
                      <a:noFill/>
                    </a:lnT>
                    <a:lnB w="0">
                      <a:noFill/>
                    </a:lnB>
                    <a:noFill/>
                  </a:tcPr>
                </a:tc>
                <a:extLst>
                  <a:ext uri="{0D108BD9-81ED-4DB2-BD59-A6C34878D82A}">
                    <a16:rowId xmlns:a16="http://schemas.microsoft.com/office/drawing/2014/main" val="10000"/>
                  </a:ext>
                </a:extLst>
              </a:tr>
              <a:tr h="280000">
                <a:tc>
                  <a:txBody>
                    <a:bodyPr/>
                    <a:lstStyle/>
                    <a:p>
                      <a:pPr algn="l"/>
                      <a:r>
                        <a:rPr lang="en-US" sz="1800" dirty="0">
                          <a:solidFill>
                            <a:srgbClr val="000000"/>
                          </a:solidFill>
                          <a:latin typeface="Times New Roman"/>
                          <a:cs typeface="Times New Roman"/>
                        </a:rPr>
                        <a:t>Rakshita</a:t>
                      </a:r>
                    </a:p>
                  </a:txBody>
                  <a:tcPr marL="36000" marR="36000" marT="18000" marB="18000">
                    <a:lnL w="0">
                      <a:noFill/>
                    </a:lnL>
                    <a:lnR w="0">
                      <a:noFill/>
                    </a:lnR>
                    <a:lnT w="0">
                      <a:noFill/>
                    </a:lnT>
                    <a:lnB w="0">
                      <a:noFill/>
                    </a:lnB>
                    <a:noFill/>
                  </a:tcPr>
                </a:tc>
                <a:tc>
                  <a:txBody>
                    <a:bodyPr/>
                    <a:lstStyle/>
                    <a:p>
                      <a:pPr algn="l"/>
                      <a:r>
                        <a:rPr lang="en-US" sz="1800" dirty="0">
                          <a:solidFill>
                            <a:srgbClr val="000000"/>
                          </a:solidFill>
                          <a:latin typeface="Times New Roman"/>
                          <a:cs typeface="Times New Roman"/>
                        </a:rPr>
                        <a:t>rakshitabhardwaj23@gmail.com</a:t>
                      </a:r>
                    </a:p>
                  </a:txBody>
                  <a:tcPr marL="36000" marR="36000" marT="18000" marB="18000">
                    <a:lnL w="0">
                      <a:noFill/>
                    </a:lnL>
                    <a:lnR w="0">
                      <a:noFill/>
                    </a:lnR>
                    <a:lnT w="0">
                      <a:noFill/>
                    </a:lnT>
                    <a:lnB w="0">
                      <a:noFill/>
                    </a:lnB>
                    <a:noFill/>
                  </a:tcPr>
                </a:tc>
                <a:extLst>
                  <a:ext uri="{0D108BD9-81ED-4DB2-BD59-A6C34878D82A}">
                    <a16:rowId xmlns:a16="http://schemas.microsoft.com/office/drawing/2014/main" val="10001"/>
                  </a:ext>
                </a:extLst>
              </a:tr>
              <a:tr h="280000">
                <a:tc>
                  <a:txBody>
                    <a:bodyPr/>
                    <a:lstStyle/>
                    <a:p>
                      <a:pPr algn="l"/>
                      <a:r>
                        <a:rPr lang="en-US" sz="1800" dirty="0">
                          <a:solidFill>
                            <a:srgbClr val="000000"/>
                          </a:solidFill>
                          <a:latin typeface="Times New Roman"/>
                          <a:cs typeface="Times New Roman"/>
                        </a:rPr>
                        <a:t>Taniya</a:t>
                      </a:r>
                    </a:p>
                  </a:txBody>
                  <a:tcPr marL="36000" marR="36000" marT="18000" marB="18000">
                    <a:lnL w="0">
                      <a:noFill/>
                    </a:lnL>
                    <a:lnR w="0">
                      <a:noFill/>
                    </a:lnR>
                    <a:lnT w="0">
                      <a:noFill/>
                    </a:lnT>
                    <a:lnB w="0">
                      <a:noFill/>
                    </a:lnB>
                    <a:noFill/>
                  </a:tcPr>
                </a:tc>
                <a:tc>
                  <a:txBody>
                    <a:bodyPr/>
                    <a:lstStyle/>
                    <a:p>
                      <a:pPr algn="l"/>
                      <a:r>
                        <a:rPr lang="en-US" sz="1800" dirty="0">
                          <a:solidFill>
                            <a:srgbClr val="000000"/>
                          </a:solidFill>
                          <a:latin typeface="Times New Roman"/>
                          <a:cs typeface="Times New Roman"/>
                        </a:rPr>
                        <a:t>goyaltaniya40@gmail.com</a:t>
                      </a:r>
                    </a:p>
                  </a:txBody>
                  <a:tcPr marL="36000" marR="36000" marT="18000" marB="18000">
                    <a:lnL w="0">
                      <a:noFill/>
                    </a:lnL>
                    <a:lnR w="0">
                      <a:noFill/>
                    </a:lnR>
                    <a:lnT w="0">
                      <a:noFill/>
                    </a:lnT>
                    <a:lnB w="0">
                      <a:noFill/>
                    </a:lnB>
                    <a:noFill/>
                  </a:tcPr>
                </a:tc>
                <a:extLst>
                  <a:ext uri="{0D108BD9-81ED-4DB2-BD59-A6C34878D82A}">
                    <a16:rowId xmlns:a16="http://schemas.microsoft.com/office/drawing/2014/main" val="10002"/>
                  </a:ext>
                </a:extLst>
              </a:tr>
              <a:tr h="280000">
                <a:tc>
                  <a:txBody>
                    <a:bodyPr/>
                    <a:lstStyle/>
                    <a:p>
                      <a:pPr algn="l"/>
                      <a:r>
                        <a:rPr lang="en-US" sz="1800" dirty="0">
                          <a:solidFill>
                            <a:srgbClr val="000000"/>
                          </a:solidFill>
                          <a:latin typeface="Times New Roman"/>
                          <a:cs typeface="Times New Roman"/>
                        </a:rPr>
                        <a:t>Divyanjali Singla</a:t>
                      </a:r>
                    </a:p>
                  </a:txBody>
                  <a:tcPr marL="36000" marR="36000" marT="18000" marB="18000">
                    <a:lnL w="0">
                      <a:noFill/>
                    </a:lnL>
                    <a:lnR w="0">
                      <a:noFill/>
                    </a:lnR>
                    <a:lnT w="0">
                      <a:noFill/>
                    </a:lnT>
                    <a:lnB w="0">
                      <a:noFill/>
                    </a:lnB>
                    <a:noFill/>
                  </a:tcPr>
                </a:tc>
                <a:tc>
                  <a:txBody>
                    <a:bodyPr/>
                    <a:lstStyle/>
                    <a:p>
                      <a:pPr algn="l"/>
                      <a:r>
                        <a:rPr lang="en-US" sz="1800" dirty="0">
                          <a:solidFill>
                            <a:srgbClr val="000000"/>
                          </a:solidFill>
                          <a:latin typeface="Times New Roman"/>
                          <a:cs typeface="Times New Roman"/>
                        </a:rPr>
                        <a:t>divyanjalisingla@gmail.com</a:t>
                      </a:r>
                    </a:p>
                  </a:txBody>
                  <a:tcPr marL="36000" marR="36000" marT="18000" marB="18000">
                    <a:lnL w="0">
                      <a:noFill/>
                    </a:lnL>
                    <a:lnR w="0">
                      <a:noFill/>
                    </a:lnR>
                    <a:lnT w="0">
                      <a:noFill/>
                    </a:lnT>
                    <a:lnB w="0">
                      <a:noFill/>
                    </a:lnB>
                    <a:noFill/>
                  </a:tcPr>
                </a:tc>
                <a:extLst>
                  <a:ext uri="{0D108BD9-81ED-4DB2-BD59-A6C34878D82A}">
                    <a16:rowId xmlns:a16="http://schemas.microsoft.com/office/drawing/2014/main" val="10003"/>
                  </a:ext>
                </a:extLst>
              </a:tr>
            </a:tbl>
          </a:graphicData>
        </a:graphic>
      </p:graphicFrame>
      <p:sp>
        <p:nvSpPr>
          <p:cNvPr id="6" name="SupervisorFooter"/>
          <p:cNvSpPr txBox="1"/>
          <p:nvPr/>
        </p:nvSpPr>
        <p:spPr>
          <a:xfrm>
            <a:off x="0" y="4500000"/>
            <a:ext cx="9144000" cy="1700000"/>
          </a:xfrm>
          <a:prstGeom prst="rect">
            <a:avLst/>
          </a:prstGeom>
          <a:noFill/>
          <a:ln w="9360">
            <a:noFill/>
          </a:ln>
        </p:spPr>
        <p:txBody>
          <a:bodyPr>
            <a:noAutofit/>
          </a:bodyPr>
          <a:lstStyle/>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Rajat Takkar</a:t>
            </a:r>
          </a:p>
          <a:p>
            <a:pPr algn="ctr">
              <a:lnSpc>
                <a:spcPct val="100000"/>
              </a:lnSpc>
              <a:spcBef>
                <a:spcPts val="400"/>
              </a:spcBef>
            </a:pPr>
            <a:endParaRPr lang="en-US" sz="2000" spc="-1" dirty="0">
              <a:latin typeface="Times New Roman"/>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TextBox 39"/>
          <p:cNvSpPr txBox="1"/>
          <p:nvPr/>
        </p:nvSpPr>
        <p:spPr>
          <a:xfrm>
            <a:off x="-12600" y="155880"/>
            <a:ext cx="3626640" cy="621360"/>
          </a:xfrm>
          <a:prstGeom prst="rect">
            <a:avLst/>
          </a:prstGeom>
          <a:noFill/>
          <a:ln w="0">
            <a:noFill/>
          </a:ln>
        </p:spPr>
        <p:txBody>
          <a:bodyPr lIns="90000" tIns="45000" rIns="90000" bIns="45000" anchor="t">
            <a:normAutofit/>
          </a:bodyPr>
          <a:lstStyle/>
          <a:p>
            <a:r>
              <a:rPr lang="en-US" sz="3200" b="0" strike="noStrike" spc="-1">
                <a:solidFill>
                  <a:srgbClr val="000000"/>
                </a:solidFill>
                <a:latin typeface="Times New Roman" panose="02020603050405020304" pitchFamily="18" charset="0"/>
                <a:ea typeface="Times New Roman" panose="02020603050405020304" pitchFamily="18" charset="0"/>
              </a:rPr>
              <a:t>Introduction</a:t>
            </a:r>
            <a:endParaRPr lang="en-US" sz="3200" b="0" strike="noStrike" spc="-1">
              <a:solidFill>
                <a:srgbClr val="000000"/>
              </a:solidFill>
              <a:latin typeface="Times New Roman" panose="02020603050405020304" pitchFamily="18" charset="0"/>
            </a:endParaRPr>
          </a:p>
        </p:txBody>
      </p:sp>
      <p:sp>
        <p:nvSpPr>
          <p:cNvPr id="41" name="TextBox 40"/>
          <p:cNvSpPr txBox="1"/>
          <p:nvPr/>
        </p:nvSpPr>
        <p:spPr>
          <a:xfrm>
            <a:off x="198000" y="1143000"/>
            <a:ext cx="8747640" cy="3539520"/>
          </a:xfrm>
          <a:prstGeom prst="rect">
            <a:avLst/>
          </a:prstGeom>
          <a:noFill/>
          <a:ln w="0">
            <a:noFill/>
          </a:ln>
        </p:spPr>
        <p:txBody>
          <a:bodyPr lIns="90000" tIns="45000" rIns="90000" bIns="45000" anchor="t">
            <a:noAutofit/>
          </a:bodyPr>
          <a:lstStyle/>
          <a:p>
            <a:pPr algn="just"/>
            <a:r>
              <a:rPr lang="en-US" sz="1800" b="0" strike="noStrike" spc="-1">
                <a:solidFill>
                  <a:srgbClr val="000000"/>
                </a:solidFill>
                <a:latin typeface="Times New Roman" panose="02020603050405020304" pitchFamily="18" charset="0"/>
                <a:ea typeface="Times New Roman" panose="02020603050405020304" pitchFamily="18" charset="0"/>
              </a:rPr>
              <a:t>Memory management is a key element of modern software systems, especially those running on the Java Virtual Machine (JVM). Garbage Collection (GC) automatically reclaims unused memory, mitigating memory leaks and reducing the need for manual memory management.</a:t>
            </a:r>
            <a:endParaRPr lang="en-US" sz="1800" b="0" strike="noStrike" spc="-1">
              <a:solidFill>
                <a:srgbClr val="000000"/>
              </a:solidFill>
              <a:latin typeface="Times New Roman" panose="02020603050405020304" pitchFamily="18" charset="0"/>
            </a:endParaRPr>
          </a:p>
          <a:p>
            <a:pPr algn="just"/>
            <a:r>
              <a:rPr lang="en-US" sz="1800" b="0" strike="noStrike" spc="-1">
                <a:solidFill>
                  <a:srgbClr val="000000"/>
                </a:solidFill>
                <a:latin typeface="Times New Roman" panose="02020603050405020304" pitchFamily="18" charset="0"/>
                <a:ea typeface="Times New Roman" panose="02020603050405020304" pitchFamily="18" charset="0"/>
              </a:rPr>
              <a:t>The JVM offers multiple GC algorithms, each with different trade-offs in latency, throughput, and memory efficiency. This research presents a comparative study of Serial GC, Parallel GC, G1 GC, ZGC, and Shenandoah under memory-intensive workloads.</a:t>
            </a:r>
            <a:endParaRPr lang="en-US" sz="1800" b="0" strike="noStrike" spc="-1">
              <a:solidFill>
                <a:srgbClr val="000000"/>
              </a:solidFill>
              <a:latin typeface="Times New Roman" panose="02020603050405020304" pitchFamily="18" charset="0"/>
            </a:endParaRPr>
          </a:p>
          <a:p>
            <a:pPr algn="just"/>
            <a:r>
              <a:rPr lang="en-US" sz="1800" b="0" strike="noStrike" spc="-1">
                <a:solidFill>
                  <a:srgbClr val="000000"/>
                </a:solidFill>
                <a:latin typeface="Times New Roman" panose="02020603050405020304" pitchFamily="18" charset="0"/>
                <a:ea typeface="Times New Roman" panose="02020603050405020304" pitchFamily="18" charset="0"/>
              </a:rPr>
              <a:t>Key findings show that modern concurrent collectors (ZGC and Shenandoah) drastically reduce pause times, making them ideal for real-time and large-scale applications. G1 GC strikes a balance between throughput and latency, while Serial and Parallel GC exhibit limitations under heavy loads.</a:t>
            </a:r>
            <a:endParaRPr lang="en-US" sz="1800" b="0" strike="noStrike" spc="-1">
              <a:solidFill>
                <a:srgbClr val="000000"/>
              </a:solidFill>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TextBox 41"/>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Literature Review</a:t>
            </a:r>
            <a:endParaRPr lang="en-US" sz="2400" b="0" strike="noStrike" spc="-1">
              <a:solidFill>
                <a:srgbClr val="000000"/>
              </a:solidFill>
              <a:latin typeface="Times New Roman" panose="02020603050405020304" pitchFamily="18" charset="0"/>
            </a:endParaRPr>
          </a:p>
        </p:txBody>
      </p:sp>
      <p:sp>
        <p:nvSpPr>
          <p:cNvPr id="43" name="TextBox 42"/>
          <p:cNvSpPr txBox="1"/>
          <p:nvPr/>
        </p:nvSpPr>
        <p:spPr>
          <a:xfrm>
            <a:off x="228600" y="950040"/>
            <a:ext cx="8600040" cy="5199840"/>
          </a:xfrm>
          <a:prstGeom prst="rect">
            <a:avLst/>
          </a:prstGeom>
          <a:noFill/>
          <a:ln w="0">
            <a:noFill/>
          </a:ln>
        </p:spPr>
        <p:txBody>
          <a:bodyPr lIns="90000" tIns="45000" rIns="90000" bIns="45000" anchor="t">
            <a:normAutofit/>
          </a:bodyPr>
          <a:lstStyle/>
          <a:p>
            <a:r>
              <a:rPr lang="en-US" sz="1600" b="1" strike="noStrike" spc="-1">
                <a:solidFill>
                  <a:srgbClr val="000000"/>
                </a:solidFill>
                <a:latin typeface="Times New Roman" panose="02020603050405020304" pitchFamily="18" charset="0"/>
                <a:ea typeface="Times New Roman" panose="02020603050405020304" pitchFamily="18" charset="0"/>
              </a:rPr>
              <a:t>Key Prior Research</a:t>
            </a:r>
            <a:endParaRPr lang="en-US" sz="16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Dashti &amp; Fedorova (2020):</a:t>
            </a:r>
            <a:r>
              <a:rPr lang="en-US" sz="1500" b="0" strike="noStrike" spc="-1">
                <a:solidFill>
                  <a:srgbClr val="000000"/>
                </a:solidFill>
                <a:latin typeface="Times New Roman" panose="02020603050405020304" pitchFamily="18" charset="0"/>
                <a:ea typeface="Times New Roman" panose="02020603050405020304" pitchFamily="18" charset="0"/>
              </a:rPr>
              <a:t> GPU-based GC offers no significant benefit due to memory bandwidth limitations.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Kolokasis et al. (2021):</a:t>
            </a:r>
            <a:r>
              <a:rPr lang="en-US" sz="1500" b="0" strike="noStrike" spc="-1">
                <a:solidFill>
                  <a:srgbClr val="000000"/>
                </a:solidFill>
                <a:latin typeface="Times New Roman" panose="02020603050405020304" pitchFamily="18" charset="0"/>
                <a:ea typeface="Times New Roman" panose="02020603050405020304" pitchFamily="18" charset="0"/>
              </a:rPr>
              <a:t> TeraHeap reduces GC overhead in big data systems but requires JVM adjustments.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Zhao et al. (2022):</a:t>
            </a:r>
            <a:r>
              <a:rPr lang="en-US" sz="1500" b="0" strike="noStrike" spc="-1">
                <a:solidFill>
                  <a:srgbClr val="000000"/>
                </a:solidFill>
                <a:latin typeface="Times New Roman" panose="02020603050405020304" pitchFamily="18" charset="0"/>
                <a:ea typeface="Times New Roman" panose="02020603050405020304" pitchFamily="18" charset="0"/>
              </a:rPr>
              <a:t> Parallel GC improves throughput and reduces pause time but adds system complexity.</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Islam et al. (2023):</a:t>
            </a:r>
            <a:r>
              <a:rPr lang="en-US" sz="1500" b="0" strike="noStrike" spc="-1">
                <a:solidFill>
                  <a:srgbClr val="000000"/>
                </a:solidFill>
                <a:latin typeface="Times New Roman" panose="02020603050405020304" pitchFamily="18" charset="0"/>
                <a:ea typeface="Times New Roman" panose="02020603050405020304" pitchFamily="18" charset="0"/>
              </a:rPr>
              <a:t> ZGC shows low pause times vs. Serial GC high latency using big data benchmarks.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Chen et al. (2024):</a:t>
            </a:r>
            <a:r>
              <a:rPr lang="en-US" sz="1500" b="0" strike="noStrike" spc="-1">
                <a:solidFill>
                  <a:srgbClr val="000000"/>
                </a:solidFill>
                <a:latin typeface="Times New Roman" panose="02020603050405020304" pitchFamily="18" charset="0"/>
                <a:ea typeface="Times New Roman" panose="02020603050405020304" pitchFamily="18" charset="0"/>
              </a:rPr>
              <a:t> GC optimizations for ML applications improve responsiveness but add compute cost.</a:t>
            </a:r>
            <a:endParaRPr lang="en-US" sz="1500" b="0" strike="noStrike" spc="-1">
              <a:solidFill>
                <a:srgbClr val="000000"/>
              </a:solidFill>
              <a:latin typeface="Times New Roman" panose="02020603050405020304" pitchFamily="18" charset="0"/>
            </a:endParaRPr>
          </a:p>
          <a:p>
            <a:r>
              <a:rPr lang="en-US" sz="1600" b="1" strike="noStrike" spc="-1">
                <a:solidFill>
                  <a:srgbClr val="000000"/>
                </a:solidFill>
                <a:latin typeface="Times New Roman" panose="02020603050405020304" pitchFamily="18" charset="0"/>
                <a:ea typeface="Times New Roman" panose="02020603050405020304" pitchFamily="18" charset="0"/>
              </a:rPr>
              <a:t>Research Gaps</a:t>
            </a:r>
            <a:endParaRPr lang="en-US" sz="16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Synthetic benchmarks:</a:t>
            </a:r>
            <a:r>
              <a:rPr lang="en-US" sz="1500" b="0" strike="noStrike" spc="-1">
                <a:solidFill>
                  <a:srgbClr val="000000"/>
                </a:solidFill>
                <a:latin typeface="Times New Roman" panose="02020603050405020304" pitchFamily="18" charset="0"/>
                <a:ea typeface="Times New Roman" panose="02020603050405020304" pitchFamily="18" charset="0"/>
              </a:rPr>
              <a:t> Most studies use artificial workloads, limiting real-world applicability.</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No universal selector:</a:t>
            </a:r>
            <a:r>
              <a:rPr lang="en-US" sz="1500" b="0" strike="noStrike" spc="-1">
                <a:solidFill>
                  <a:srgbClr val="000000"/>
                </a:solidFill>
                <a:latin typeface="Times New Roman" panose="02020603050405020304" pitchFamily="18" charset="0"/>
                <a:ea typeface="Times New Roman" panose="02020603050405020304" pitchFamily="18" charset="0"/>
              </a:rPr>
              <a:t> No automated method exists to choose the best GC per application type.</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ML-based methods:</a:t>
            </a:r>
            <a:r>
              <a:rPr lang="en-US" sz="1500" b="0" strike="noStrike" spc="-1">
                <a:solidFill>
                  <a:srgbClr val="000000"/>
                </a:solidFill>
                <a:latin typeface="Times New Roman" panose="02020603050405020304" pitchFamily="18" charset="0"/>
                <a:ea typeface="Times New Roman" panose="02020603050405020304" pitchFamily="18" charset="0"/>
              </a:rPr>
              <a:t> Introduce overhead and remain unreliable for production systems.</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TextBox 43"/>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System Architecture</a:t>
            </a:r>
            <a:endParaRPr lang="en-US" sz="2400" b="0" strike="noStrike" spc="-1">
              <a:solidFill>
                <a:srgbClr val="000000"/>
              </a:solidFill>
              <a:latin typeface="Times New Roman" panose="02020603050405020304" pitchFamily="18" charset="0"/>
            </a:endParaRPr>
          </a:p>
        </p:txBody>
      </p:sp>
      <p:sp>
        <p:nvSpPr>
          <p:cNvPr id="45" name="TextBox 44"/>
          <p:cNvSpPr txBox="1"/>
          <p:nvPr/>
        </p:nvSpPr>
        <p:spPr>
          <a:xfrm>
            <a:off x="228600" y="950040"/>
            <a:ext cx="8600040" cy="5199840"/>
          </a:xfrm>
          <a:prstGeom prst="rect">
            <a:avLst/>
          </a:prstGeom>
          <a:noFill/>
          <a:ln w="0">
            <a:noFill/>
          </a:ln>
        </p:spPr>
        <p:txBody>
          <a:bodyPr lIns="90000" tIns="45000" rIns="90000" bIns="45000" anchor="t">
            <a:normAutofit/>
          </a:bodyPr>
          <a:lstStyle/>
          <a:p>
            <a:r>
              <a:rPr lang="en-US" sz="1600" b="1" strike="noStrike" spc="-1">
                <a:solidFill>
                  <a:srgbClr val="000000"/>
                </a:solidFill>
                <a:latin typeface="Times New Roman" panose="02020603050405020304" pitchFamily="18" charset="0"/>
                <a:ea typeface="Times New Roman" panose="02020603050405020304" pitchFamily="18" charset="0"/>
              </a:rPr>
              <a:t>Four-Layer Modular Architecture</a:t>
            </a:r>
            <a:endParaRPr lang="en-US" sz="16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Workload Generation Layer:</a:t>
            </a:r>
            <a:r>
              <a:rPr lang="en-US" sz="1500" b="0" strike="noStrike" spc="-1">
                <a:solidFill>
                  <a:srgbClr val="000000"/>
                </a:solidFill>
                <a:latin typeface="Times New Roman" panose="02020603050405020304" pitchFamily="18" charset="0"/>
                <a:ea typeface="Times New Roman" panose="02020603050405020304" pitchFamily="18" charset="0"/>
              </a:rPr>
              <a:t> Memory-intensive workloads using DaCapo benchmarking suite and custom stress applications simulating real-world scenarios.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JVM Execution Layer:</a:t>
            </a:r>
            <a:r>
              <a:rPr lang="en-US" sz="1500" b="0" strike="noStrike" spc="-1">
                <a:solidFill>
                  <a:srgbClr val="000000"/>
                </a:solidFill>
                <a:latin typeface="Times New Roman" panose="02020603050405020304" pitchFamily="18" charset="0"/>
                <a:ea typeface="Times New Roman" panose="02020603050405020304" pitchFamily="18" charset="0"/>
              </a:rPr>
              <a:t> Runs workloads with Serial GC, Parallel GC, G1 GC, ZGC, and Shenandoah configured with standardized heap sizes and JVM settings.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Monitoring Module:</a:t>
            </a:r>
            <a:r>
              <a:rPr lang="en-US" sz="1500" b="0" strike="noStrike" spc="-1">
                <a:solidFill>
                  <a:srgbClr val="000000"/>
                </a:solidFill>
                <a:latin typeface="Times New Roman" panose="02020603050405020304" pitchFamily="18" charset="0"/>
                <a:ea typeface="Times New Roman" panose="02020603050405020304" pitchFamily="18" charset="0"/>
              </a:rPr>
              <a:t> Collects runtime statistics including heap usage, GC pause time, CPU consumption, and throughput using JVisualVM and JConsole.</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Analysis &amp; Evaluation Engine:</a:t>
            </a:r>
            <a:r>
              <a:rPr lang="en-US" sz="1500" b="0" strike="noStrike" spc="-1">
                <a:solidFill>
                  <a:srgbClr val="000000"/>
                </a:solidFill>
                <a:latin typeface="Times New Roman" panose="02020603050405020304" pitchFamily="18" charset="0"/>
                <a:ea typeface="Times New Roman" panose="02020603050405020304" pitchFamily="18" charset="0"/>
              </a:rPr>
              <a:t> Processes collected data to compute performance metrics, identify trade-offs, and generate comparative reports for GC selection.</a:t>
            </a:r>
            <a:endParaRPr lang="en-US" sz="1500" b="0" strike="noStrike" spc="-1">
              <a:solidFill>
                <a:srgbClr val="000000"/>
              </a:solidFill>
              <a:latin typeface="Times New Roman" panose="02020603050405020304" pitchFamily="18" charset="0"/>
            </a:endParaRPr>
          </a:p>
          <a:p>
            <a:r>
              <a:rPr lang="en-US" sz="1600" b="1" strike="noStrike" spc="-1">
                <a:solidFill>
                  <a:srgbClr val="000000"/>
                </a:solidFill>
                <a:latin typeface="Times New Roman" panose="02020603050405020304" pitchFamily="18" charset="0"/>
                <a:ea typeface="Times New Roman" panose="02020603050405020304" pitchFamily="18" charset="0"/>
              </a:rPr>
              <a:t>System Workflow</a:t>
            </a:r>
            <a:endParaRPr lang="en-US" sz="16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Workflow:</a:t>
            </a:r>
            <a:r>
              <a:rPr lang="en-US" sz="1500" b="0" strike="noStrike" spc="-1">
                <a:solidFill>
                  <a:srgbClr val="000000"/>
                </a:solidFill>
                <a:latin typeface="Times New Roman" panose="02020603050405020304" pitchFamily="18" charset="0"/>
                <a:ea typeface="Times New Roman" panose="02020603050405020304" pitchFamily="18" charset="0"/>
              </a:rPr>
              <a:t> Workload Input → JVM Execution → GC → Monitoring → Data Collection → Analysis → Results</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TextBox 45"/>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Methodology</a:t>
            </a:r>
            <a:endParaRPr lang="en-US" sz="2400" b="0" strike="noStrike" spc="-1">
              <a:solidFill>
                <a:srgbClr val="000000"/>
              </a:solidFill>
              <a:latin typeface="Times New Roman" panose="02020603050405020304" pitchFamily="18" charset="0"/>
            </a:endParaRPr>
          </a:p>
        </p:txBody>
      </p:sp>
      <p:sp>
        <p:nvSpPr>
          <p:cNvPr id="47" name="TextBox 46"/>
          <p:cNvSpPr txBox="1"/>
          <p:nvPr/>
        </p:nvSpPr>
        <p:spPr>
          <a:xfrm>
            <a:off x="122040" y="912960"/>
            <a:ext cx="8443080" cy="5293800"/>
          </a:xfrm>
          <a:prstGeom prst="rect">
            <a:avLst/>
          </a:prstGeom>
          <a:noFill/>
          <a:ln w="0">
            <a:noFill/>
          </a:ln>
        </p:spPr>
        <p:txBody>
          <a:bodyPr lIns="90000" tIns="45000" rIns="90000" bIns="45000" anchor="t">
            <a:normAutofit/>
          </a:bodyPr>
          <a:lstStyle/>
          <a:p>
            <a:r>
              <a:rPr lang="en-US" sz="1700" b="1" strike="noStrike" spc="-1">
                <a:solidFill>
                  <a:srgbClr val="000000"/>
                </a:solidFill>
                <a:latin typeface="Times New Roman" panose="02020603050405020304" pitchFamily="18" charset="0"/>
                <a:ea typeface="Times New Roman" panose="02020603050405020304" pitchFamily="18" charset="0"/>
              </a:rPr>
              <a:t>Experimental Setup</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Hardware:</a:t>
            </a:r>
            <a:r>
              <a:rPr lang="en-US" sz="1500" b="0" strike="noStrike" spc="-1">
                <a:solidFill>
                  <a:srgbClr val="000000"/>
                </a:solidFill>
                <a:latin typeface="Times New Roman" panose="02020603050405020304" pitchFamily="18" charset="0"/>
                <a:ea typeface="Times New Roman" panose="02020603050405020304" pitchFamily="18" charset="0"/>
              </a:rPr>
              <a:t> Multi-core system running standard JVM; heap fixed at -Xms2g -Xmx2g.</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Collectors Tested:</a:t>
            </a:r>
            <a:r>
              <a:rPr lang="en-US" sz="1500" b="0" strike="noStrike" spc="-1">
                <a:solidFill>
                  <a:srgbClr val="000000"/>
                </a:solidFill>
                <a:latin typeface="Times New Roman" panose="02020603050405020304" pitchFamily="18" charset="0"/>
                <a:ea typeface="Times New Roman" panose="02020603050405020304" pitchFamily="18" charset="0"/>
              </a:rPr>
              <a:t> Serial GC, Parallel GC, G1 GC, ZGC, Shenandoah — identical system settings.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Workload:</a:t>
            </a:r>
            <a:r>
              <a:rPr lang="en-US" sz="1500" b="0" strike="noStrike" spc="-1">
                <a:solidFill>
                  <a:srgbClr val="000000"/>
                </a:solidFill>
                <a:latin typeface="Times New Roman" panose="02020603050405020304" pitchFamily="18" charset="0"/>
                <a:ea typeface="Times New Roman" panose="02020603050405020304" pitchFamily="18" charset="0"/>
              </a:rPr>
              <a:t> 5 warm-up rounds + 15 measured rounds; 120 outer loops, 80 inner allocations, 256 KB block size.</a:t>
            </a:r>
            <a:endParaRPr lang="en-US" sz="1500" b="0" strike="noStrike" spc="-1">
              <a:solidFill>
                <a:srgbClr val="000000"/>
              </a:solidFill>
              <a:latin typeface="Times New Roman" panose="02020603050405020304" pitchFamily="18" charset="0"/>
            </a:endParaRPr>
          </a:p>
          <a:p>
            <a:r>
              <a:rPr lang="en-US" sz="1700" b="1" strike="noStrike" spc="-1">
                <a:solidFill>
                  <a:srgbClr val="000000"/>
                </a:solidFill>
                <a:latin typeface="Times New Roman" panose="02020603050405020304" pitchFamily="18" charset="0"/>
                <a:ea typeface="Times New Roman" panose="02020603050405020304" pitchFamily="18" charset="0"/>
              </a:rPr>
              <a:t>Performance Metrics</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Throughput (%):</a:t>
            </a:r>
            <a:r>
              <a:rPr lang="en-US" sz="1500" b="0" strike="noStrike" spc="-1">
                <a:solidFill>
                  <a:srgbClr val="000000"/>
                </a:solidFill>
                <a:latin typeface="Times New Roman" panose="02020603050405020304" pitchFamily="18" charset="0"/>
                <a:ea typeface="Times New Roman" panose="02020603050405020304" pitchFamily="18" charset="0"/>
              </a:rPr>
              <a:t> Percentage of time application runs without GC pauses.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Avg Pause Time (ms):</a:t>
            </a:r>
            <a:r>
              <a:rPr lang="en-US" sz="1500" b="0" strike="noStrike" spc="-1">
                <a:solidFill>
                  <a:srgbClr val="000000"/>
                </a:solidFill>
                <a:latin typeface="Times New Roman" panose="02020603050405020304" pitchFamily="18" charset="0"/>
                <a:ea typeface="Times New Roman" panose="02020603050405020304" pitchFamily="18" charset="0"/>
              </a:rPr>
              <a:t> Mean stop-the-world duration per GC collection cycle.</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CPU Usage (%):</a:t>
            </a:r>
            <a:r>
              <a:rPr lang="en-US" sz="1500" b="0" strike="noStrike" spc="-1">
                <a:solidFill>
                  <a:srgbClr val="000000"/>
                </a:solidFill>
                <a:latin typeface="Times New Roman" panose="02020603050405020304" pitchFamily="18" charset="0"/>
                <a:ea typeface="Times New Roman" panose="02020603050405020304" pitchFamily="18" charset="0"/>
              </a:rPr>
              <a:t> Processor overhead consumed by GC operations per round.</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Memory Before/After (MB):</a:t>
            </a:r>
            <a:r>
              <a:rPr lang="en-US" sz="1500" b="0" strike="noStrike" spc="-1">
                <a:solidFill>
                  <a:srgbClr val="000000"/>
                </a:solidFill>
                <a:latin typeface="Times New Roman" panose="02020603050405020304" pitchFamily="18" charset="0"/>
                <a:ea typeface="Times New Roman" panose="02020603050405020304" pitchFamily="18" charset="0"/>
              </a:rPr>
              <a:t> Heap usage before and after each GC cycle.</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GC Count and GC Time:</a:t>
            </a:r>
            <a:r>
              <a:rPr lang="en-US" sz="1500" b="0" strike="noStrike" spc="-1">
                <a:solidFill>
                  <a:srgbClr val="000000"/>
                </a:solidFill>
                <a:latin typeface="Times New Roman" panose="02020603050405020304" pitchFamily="18" charset="0"/>
                <a:ea typeface="Times New Roman" panose="02020603050405020304" pitchFamily="18" charset="0"/>
              </a:rPr>
              <a:t> Number of collection events and cumulative collection time per round.</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TextBox 47"/>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Implementation</a:t>
            </a:r>
            <a:endParaRPr lang="en-US" sz="2400" b="0" strike="noStrike" spc="-1">
              <a:solidFill>
                <a:srgbClr val="000000"/>
              </a:solidFill>
              <a:latin typeface="Times New Roman" panose="02020603050405020304" pitchFamily="18" charset="0"/>
            </a:endParaRPr>
          </a:p>
        </p:txBody>
      </p:sp>
      <p:sp>
        <p:nvSpPr>
          <p:cNvPr id="49" name="TextBox 48"/>
          <p:cNvSpPr txBox="1"/>
          <p:nvPr/>
        </p:nvSpPr>
        <p:spPr>
          <a:xfrm>
            <a:off x="274320" y="1066680"/>
            <a:ext cx="8440560" cy="4998240"/>
          </a:xfrm>
          <a:prstGeom prst="rect">
            <a:avLst/>
          </a:prstGeom>
          <a:noFill/>
          <a:ln w="0">
            <a:noFill/>
          </a:ln>
        </p:spPr>
        <p:txBody>
          <a:bodyPr lIns="90000" tIns="45000" rIns="90000" bIns="45000" anchor="t">
            <a:normAutofit/>
          </a:bodyPr>
          <a:lstStyle/>
          <a:p>
            <a:r>
              <a:rPr lang="en-US" sz="1700" b="1" strike="noStrike" spc="-1">
                <a:solidFill>
                  <a:srgbClr val="000000"/>
                </a:solidFill>
                <a:latin typeface="Times New Roman" panose="02020603050405020304" pitchFamily="18" charset="0"/>
                <a:ea typeface="Times New Roman" panose="02020603050405020304" pitchFamily="18" charset="0"/>
              </a:rPr>
              <a:t>Development Environment</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Language/Platform:</a:t>
            </a:r>
            <a:r>
              <a:rPr lang="en-US" sz="1500" b="0" strike="noStrike" spc="-1">
                <a:solidFill>
                  <a:srgbClr val="000000"/>
                </a:solidFill>
                <a:latin typeface="Times New Roman" panose="02020603050405020304" pitchFamily="18" charset="0"/>
                <a:ea typeface="Times New Roman" panose="02020603050405020304" pitchFamily="18" charset="0"/>
              </a:rPr>
              <a:t> Java on JVM — supports Serial, Parallel, G1, ZGC, and Shenandoah collectors.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Benchmark Program:</a:t>
            </a:r>
            <a:r>
              <a:rPr lang="en-US" sz="1500" b="0" strike="noStrike" spc="-1">
                <a:solidFill>
                  <a:srgbClr val="000000"/>
                </a:solidFill>
                <a:latin typeface="Times New Roman" panose="02020603050405020304" pitchFamily="18" charset="0"/>
                <a:ea typeface="Times New Roman" panose="02020603050405020304" pitchFamily="18" charset="0"/>
              </a:rPr>
              <a:t> Custom GCResearchBenchmark.java — measures exec time, pause, throughput, CPU, GC stats.</a:t>
            </a:r>
            <a:endParaRPr lang="en-US" sz="1500" b="0" strike="noStrike" spc="-1">
              <a:solidFill>
                <a:srgbClr val="000000"/>
              </a:solidFill>
              <a:latin typeface="Times New Roman" panose="02020603050405020304" pitchFamily="18" charset="0"/>
            </a:endParaRPr>
          </a:p>
          <a:p>
            <a:r>
              <a:rPr lang="en-US" sz="1700" b="1" strike="noStrike" spc="-1">
                <a:solidFill>
                  <a:srgbClr val="000000"/>
                </a:solidFill>
                <a:latin typeface="Times New Roman" panose="02020603050405020304" pitchFamily="18" charset="0"/>
                <a:ea typeface="Times New Roman" panose="02020603050405020304" pitchFamily="18" charset="0"/>
              </a:rPr>
              <a:t>Key Components</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captureGCStats():</a:t>
            </a:r>
            <a:r>
              <a:rPr lang="en-US" sz="1500" b="0" strike="noStrike" spc="-1">
                <a:solidFill>
                  <a:srgbClr val="000000"/>
                </a:solidFill>
                <a:latin typeface="Times New Roman" panose="02020603050405020304" pitchFamily="18" charset="0"/>
                <a:ea typeface="Times New Roman" panose="02020603050405020304" pitchFamily="18" charset="0"/>
              </a:rPr>
              <a:t> Uses ManagementFactory.getGarbageCollectorMXBeans() to track GC count and time delta per round.</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getProcessCpuTimeNs():</a:t>
            </a:r>
            <a:r>
              <a:rPr lang="en-US" sz="1500" b="0" strike="noStrike" spc="-1">
                <a:solidFill>
                  <a:srgbClr val="000000"/>
                </a:solidFill>
                <a:latin typeface="Times New Roman" panose="02020603050405020304" pitchFamily="18" charset="0"/>
                <a:ea typeface="Times New Roman" panose="02020603050405020304" pitchFamily="18" charset="0"/>
              </a:rPr>
              <a:t> Reads process CPU time via com.sun.management.OperatingSystemMXBean.</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printSummary():</a:t>
            </a:r>
            <a:r>
              <a:rPr lang="en-US" sz="1500" b="0" strike="noStrike" spc="-1">
                <a:solidFill>
                  <a:srgbClr val="000000"/>
                </a:solidFill>
                <a:latin typeface="Times New Roman" panose="02020603050405020304" pitchFamily="18" charset="0"/>
                <a:ea typeface="Times New Roman" panose="02020603050405020304" pitchFamily="18" charset="0"/>
              </a:rPr>
              <a:t> Computes avg/min/max exec time, avg pause, throughput, CPU, GC stats across all rounds.</a:t>
            </a:r>
            <a:endParaRPr lang="en-US" sz="1500" b="0" strike="noStrike" spc="-1">
              <a:solidFill>
                <a:srgbClr val="000000"/>
              </a:solidFill>
              <a:latin typeface="Times New Roman" panose="02020603050405020304" pitchFamily="18" charset="0"/>
            </a:endParaRPr>
          </a:p>
          <a:p>
            <a:r>
              <a:rPr lang="en-US" sz="1700" b="1" strike="noStrike" spc="-1">
                <a:solidFill>
                  <a:srgbClr val="000000"/>
                </a:solidFill>
                <a:latin typeface="Times New Roman" panose="02020603050405020304" pitchFamily="18" charset="0"/>
                <a:ea typeface="Times New Roman" panose="02020603050405020304" pitchFamily="18" charset="0"/>
              </a:rPr>
              <a:t>Run Commands (Examples)</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G1 GC:</a:t>
            </a:r>
            <a:r>
              <a:rPr lang="en-US" sz="1500" b="0" strike="noStrike" spc="-1">
                <a:solidFill>
                  <a:srgbClr val="000000"/>
                </a:solidFill>
                <a:latin typeface="Times New Roman" panose="02020603050405020304" pitchFamily="18" charset="0"/>
                <a:ea typeface="Times New Roman" panose="02020603050405020304" pitchFamily="18" charset="0"/>
              </a:rPr>
              <a:t> java -Xms2g -Xmx2g -XX:+UseG1GC GCResearchBenchmark</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Serial GC:</a:t>
            </a:r>
            <a:r>
              <a:rPr lang="en-US" sz="1500" b="0" strike="noStrike" spc="-1">
                <a:solidFill>
                  <a:srgbClr val="000000"/>
                </a:solidFill>
                <a:latin typeface="Times New Roman" panose="02020603050405020304" pitchFamily="18" charset="0"/>
                <a:ea typeface="Times New Roman" panose="02020603050405020304" pitchFamily="18" charset="0"/>
              </a:rPr>
              <a:t> java -Xms2g -Xmx2g -XX:+UseSerialGC GCResearchBenchmark</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Parallel GC:</a:t>
            </a:r>
            <a:r>
              <a:rPr lang="en-US" sz="1500" b="0" strike="noStrike" spc="-1">
                <a:solidFill>
                  <a:srgbClr val="000000"/>
                </a:solidFill>
                <a:latin typeface="Times New Roman" panose="02020603050405020304" pitchFamily="18" charset="0"/>
                <a:ea typeface="Times New Roman" panose="02020603050405020304" pitchFamily="18" charset="0"/>
              </a:rPr>
              <a:t> java -Xms2g -Xmx2g -XX:+UseParallelGC GCResearchBenchmark</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TextBox 49"/>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Code Implementation</a:t>
            </a:r>
            <a:endParaRPr lang="en-US" sz="2400" b="0" strike="noStrike" spc="-1">
              <a:solidFill>
                <a:srgbClr val="000000"/>
              </a:solidFill>
              <a:latin typeface="Times New Roman" panose="02020603050405020304" pitchFamily="18" charset="0"/>
            </a:endParaRPr>
          </a:p>
        </p:txBody>
      </p:sp>
      <p:sp>
        <p:nvSpPr>
          <p:cNvPr id="51" name="TextBox 50"/>
          <p:cNvSpPr txBox="1"/>
          <p:nvPr/>
        </p:nvSpPr>
        <p:spPr>
          <a:xfrm>
            <a:off x="198000" y="1295280"/>
            <a:ext cx="8519040" cy="4444200"/>
          </a:xfrm>
          <a:prstGeom prst="rect">
            <a:avLst/>
          </a:prstGeom>
          <a:noFill/>
          <a:ln w="0">
            <a:noFill/>
          </a:ln>
        </p:spPr>
        <p:txBody>
          <a:bodyPr lIns="90000" tIns="45000" rIns="90000" bIns="45000" anchor="t">
            <a:normAutofit/>
          </a:bodyPr>
          <a:lstStyle/>
          <a:p>
            <a:r>
              <a:rPr lang="en-US" sz="1700" b="1" strike="noStrike" spc="-1">
                <a:solidFill>
                  <a:srgbClr val="000000"/>
                </a:solidFill>
                <a:latin typeface="Times New Roman" panose="02020603050405020304" pitchFamily="18" charset="0"/>
                <a:ea typeface="Times New Roman" panose="02020603050405020304" pitchFamily="18" charset="0"/>
              </a:rPr>
              <a:t>Code Structure Overview</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printSummary() (lines 224-254):</a:t>
            </a:r>
            <a:r>
              <a:rPr lang="en-US" sz="1500" b="0" strike="noStrike" spc="-1">
                <a:solidFill>
                  <a:srgbClr val="000000"/>
                </a:solidFill>
                <a:latin typeface="Times New Roman" panose="02020603050405020304" pitchFamily="18" charset="0"/>
                <a:ea typeface="Times New Roman" panose="02020603050405020304" pitchFamily="18" charset="0"/>
              </a:rPr>
              <a:t> Accumulates exec time, pause, throughput, CPU, memory, GC stats; tracks min/max exec times.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captureGCStats() (lines 138-155):</a:t>
            </a:r>
            <a:r>
              <a:rPr lang="en-US" sz="1500" b="0" strike="noStrike" spc="-1">
                <a:solidFill>
                  <a:srgbClr val="000000"/>
                </a:solidFill>
                <a:latin typeface="Times New Roman" panose="02020603050405020304" pitchFamily="18" charset="0"/>
                <a:ea typeface="Times New Roman" panose="02020603050405020304" pitchFamily="18" charset="0"/>
              </a:rPr>
              <a:t> Queries all GarbageCollectorMXBean instances to get total GC collection count and time in ms.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getProcessCpuTimeNs() (lines 158-166):</a:t>
            </a:r>
            <a:r>
              <a:rPr lang="en-US" sz="1500" b="0" strike="noStrike" spc="-1">
                <a:solidFill>
                  <a:srgbClr val="000000"/>
                </a:solidFill>
                <a:latin typeface="Times New Roman" panose="02020603050405020304" pitchFamily="18" charset="0"/>
                <a:ea typeface="Times New Roman" panose="02020603050405020304" pitchFamily="18" charset="0"/>
              </a:rPr>
              <a:t> Casts OperatingSystemMXBean to sun flavor; retrieves per-process CPU time in nanoseconds.</a:t>
            </a:r>
            <a:endParaRPr lang="en-US" sz="1500" b="0" strike="noStrike" spc="-1">
              <a:solidFill>
                <a:srgbClr val="000000"/>
              </a:solidFill>
              <a:latin typeface="Times New Roman" panose="02020603050405020304" pitchFamily="18" charset="0"/>
            </a:endParaRPr>
          </a:p>
          <a:p>
            <a:r>
              <a:rPr lang="en-US" sz="1700" b="1" strike="noStrike" spc="-1">
                <a:solidFill>
                  <a:srgbClr val="000000"/>
                </a:solidFill>
                <a:latin typeface="Times New Roman" panose="02020603050405020304" pitchFamily="18" charset="0"/>
                <a:ea typeface="Times New Roman" panose="02020603050405020304" pitchFamily="18" charset="0"/>
              </a:rPr>
              <a:t>Output Fields Per Round</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Core metrics:</a:t>
            </a:r>
            <a:r>
              <a:rPr lang="en-US" sz="1500" b="0" strike="noStrike" spc="-1">
                <a:solidFill>
                  <a:srgbClr val="000000"/>
                </a:solidFill>
                <a:latin typeface="Times New Roman" panose="02020603050405020304" pitchFamily="18" charset="0"/>
                <a:ea typeface="Times New Roman" panose="02020603050405020304" pitchFamily="18" charset="0"/>
              </a:rPr>
              <a:t> Execution Time, Avg Pause Time, Throughput (%) — primary latency and throughput data.</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Resource metrics:</a:t>
            </a:r>
            <a:r>
              <a:rPr lang="en-US" sz="1500" b="0" strike="noStrike" spc="-1">
                <a:solidFill>
                  <a:srgbClr val="000000"/>
                </a:solidFill>
                <a:latin typeface="Times New Roman" panose="02020603050405020304" pitchFamily="18" charset="0"/>
                <a:ea typeface="Times New Roman" panose="02020603050405020304" pitchFamily="18" charset="0"/>
              </a:rPr>
              <a:t> CPU Usage %, GC Count Delta, GC Time Delta — overhead measurement.</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Memory metrics:</a:t>
            </a:r>
            <a:r>
              <a:rPr lang="en-US" sz="1500" b="0" strike="noStrike" spc="-1">
                <a:solidFill>
                  <a:srgbClr val="000000"/>
                </a:solidFill>
                <a:latin typeface="Times New Roman" panose="02020603050405020304" pitchFamily="18" charset="0"/>
                <a:ea typeface="Times New Roman" panose="02020603050405020304" pitchFamily="18" charset="0"/>
              </a:rPr>
              <a:t> Memory Before and After (MB), Checksum — heap behavior and correctness.</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TextBox 51"/>
          <p:cNvSpPr txBox="1"/>
          <p:nvPr/>
        </p:nvSpPr>
        <p:spPr>
          <a:xfrm>
            <a:off x="-12600" y="155880"/>
            <a:ext cx="8700120" cy="621360"/>
          </a:xfrm>
          <a:prstGeom prst="rect">
            <a:avLst/>
          </a:prstGeom>
          <a:noFill/>
          <a:ln w="0">
            <a:noFill/>
          </a:ln>
        </p:spPr>
        <p:txBody>
          <a:bodyPr lIns="90000" tIns="45000" rIns="90000" bIns="45000" anchor="t">
            <a:normAutofit/>
          </a:bodyPr>
          <a:lstStyle/>
          <a:p>
            <a:r>
              <a:rPr lang="en-US" sz="2400" b="0" strike="noStrike" spc="-1">
                <a:solidFill>
                  <a:srgbClr val="000000"/>
                </a:solidFill>
                <a:latin typeface="Times New Roman" panose="02020603050405020304" pitchFamily="18" charset="0"/>
                <a:ea typeface="Times New Roman" panose="02020603050405020304" pitchFamily="18" charset="0"/>
              </a:rPr>
              <a:t>Performance Results</a:t>
            </a:r>
            <a:endParaRPr lang="en-US" sz="2400" b="0" strike="noStrike" spc="-1">
              <a:solidFill>
                <a:srgbClr val="000000"/>
              </a:solidFill>
              <a:latin typeface="Times New Roman" panose="02020603050405020304" pitchFamily="18" charset="0"/>
            </a:endParaRPr>
          </a:p>
        </p:txBody>
      </p:sp>
      <p:sp>
        <p:nvSpPr>
          <p:cNvPr id="53" name="TextBox 52"/>
          <p:cNvSpPr txBox="1"/>
          <p:nvPr/>
        </p:nvSpPr>
        <p:spPr>
          <a:xfrm>
            <a:off x="294480" y="1066680"/>
            <a:ext cx="8555040" cy="3970440"/>
          </a:xfrm>
          <a:prstGeom prst="rect">
            <a:avLst/>
          </a:prstGeom>
          <a:noFill/>
          <a:ln w="0">
            <a:noFill/>
          </a:ln>
        </p:spPr>
        <p:txBody>
          <a:bodyPr lIns="90000" tIns="45000" rIns="90000" bIns="45000" anchor="t">
            <a:noAutofit/>
          </a:bodyPr>
          <a:lstStyle/>
          <a:p>
            <a:r>
              <a:rPr lang="en-US" sz="1700" b="1" strike="noStrike" spc="-1">
                <a:solidFill>
                  <a:srgbClr val="000000"/>
                </a:solidFill>
                <a:latin typeface="Times New Roman" panose="02020603050405020304" pitchFamily="18" charset="0"/>
                <a:ea typeface="Times New Roman" panose="02020603050405020304" pitchFamily="18" charset="0"/>
              </a:rPr>
              <a:t>G1 GC Final Summary (Measured Benchmark)</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Avg Exec Time:</a:t>
            </a:r>
            <a:r>
              <a:rPr lang="en-US" sz="1500" b="0" strike="noStrike" spc="-1">
                <a:solidFill>
                  <a:srgbClr val="000000"/>
                </a:solidFill>
                <a:latin typeface="Times New Roman" panose="02020603050405020304" pitchFamily="18" charset="0"/>
                <a:ea typeface="Times New Roman" panose="02020603050405020304" pitchFamily="18" charset="0"/>
              </a:rPr>
              <a:t> 499.93ms | Min: 227ms | Max: 947ms across 15 rounds.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Avg Pause Time:</a:t>
            </a:r>
            <a:r>
              <a:rPr lang="en-US" sz="1500" b="0" strike="noStrike" spc="-1">
                <a:solidFill>
                  <a:srgbClr val="000000"/>
                </a:solidFill>
                <a:latin typeface="Times New Roman" panose="02020603050405020304" pitchFamily="18" charset="0"/>
                <a:ea typeface="Times New Roman" panose="02020603050405020304" pitchFamily="18" charset="0"/>
              </a:rPr>
              <a:t> 5.08ms | Throughput: 95.07% | CPU Usage: 4.78%</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GC Stats:</a:t>
            </a:r>
            <a:r>
              <a:rPr lang="en-US" sz="1500" b="0" strike="noStrike" spc="-1">
                <a:solidFill>
                  <a:srgbClr val="000000"/>
                </a:solidFill>
                <a:latin typeface="Times New Roman" panose="02020603050405020304" pitchFamily="18" charset="0"/>
                <a:ea typeface="Times New Roman" panose="02020603050405020304" pitchFamily="18" charset="0"/>
              </a:rPr>
              <a:t> Avg GC Time: 22.27ms | Avg GC Count: 4.40 | Avg Mem Before: 378.85MB | After: 365.74MB</a:t>
            </a:r>
            <a:endParaRPr lang="en-US" sz="1500" b="0" strike="noStrike" spc="-1">
              <a:solidFill>
                <a:srgbClr val="000000"/>
              </a:solidFill>
              <a:latin typeface="Times New Roman" panose="02020603050405020304" pitchFamily="18" charset="0"/>
            </a:endParaRPr>
          </a:p>
          <a:p>
            <a:r>
              <a:rPr lang="en-US" sz="1700" b="1" strike="noStrike" spc="-1">
                <a:solidFill>
                  <a:srgbClr val="000000"/>
                </a:solidFill>
                <a:latin typeface="Times New Roman" panose="02020603050405020304" pitchFamily="18" charset="0"/>
                <a:ea typeface="Times New Roman" panose="02020603050405020304" pitchFamily="18" charset="0"/>
              </a:rPr>
              <a:t>Comparative Summary (from Research)</a:t>
            </a:r>
            <a:endParaRPr lang="en-US" sz="17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Serial GC:</a:t>
            </a:r>
            <a:r>
              <a:rPr lang="en-US" sz="1500" b="0" strike="noStrike" spc="-1">
                <a:solidFill>
                  <a:srgbClr val="000000"/>
                </a:solidFill>
                <a:latin typeface="Times New Roman" panose="02020603050405020304" pitchFamily="18" charset="0"/>
                <a:ea typeface="Times New Roman" panose="02020603050405020304" pitchFamily="18" charset="0"/>
              </a:rPr>
              <a:t> Avg Pause ~120ms | Throughput ~70% | CPU ~40% — single-threaded, simple workloads.</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Parallel GC:</a:t>
            </a:r>
            <a:r>
              <a:rPr lang="en-US" sz="1500" b="0" strike="noStrike" spc="-1">
                <a:solidFill>
                  <a:srgbClr val="000000"/>
                </a:solidFill>
                <a:latin typeface="Times New Roman" panose="02020603050405020304" pitchFamily="18" charset="0"/>
                <a:ea typeface="Times New Roman" panose="02020603050405020304" pitchFamily="18" charset="0"/>
              </a:rPr>
              <a:t> Avg Pause ~95ms | Throughput ~82% | CPU ~75% — multi-threaded batch processing.</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G1 GC:</a:t>
            </a:r>
            <a:r>
              <a:rPr lang="en-US" sz="1500" b="0" strike="noStrike" spc="-1">
                <a:solidFill>
                  <a:srgbClr val="000000"/>
                </a:solidFill>
                <a:latin typeface="Times New Roman" panose="02020603050405020304" pitchFamily="18" charset="0"/>
                <a:ea typeface="Times New Roman" panose="02020603050405020304" pitchFamily="18" charset="0"/>
              </a:rPr>
              <a:t> Avg Pause ~45ms | Throughput ~88% | CPU ~68% — best general-purpose balance.</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ZGC:</a:t>
            </a:r>
            <a:r>
              <a:rPr lang="en-US" sz="1500" b="0" strike="noStrike" spc="-1">
                <a:solidFill>
                  <a:srgbClr val="000000"/>
                </a:solidFill>
                <a:latin typeface="Times New Roman" panose="02020603050405020304" pitchFamily="18" charset="0"/>
                <a:ea typeface="Times New Roman" panose="02020603050405020304" pitchFamily="18" charset="0"/>
              </a:rPr>
              <a:t> Avg Pause ~12ms | Throughput ~91% | CPU ~82% — ultra-low latency concurrent.</a:t>
            </a:r>
            <a:endParaRPr lang="en-US" sz="1500" b="0" strike="noStrike" spc="-1">
              <a:solidFill>
                <a:srgbClr val="000000"/>
              </a:solidFill>
              <a:latin typeface="Times New Roman" panose="02020603050405020304" pitchFamily="18" charset="0"/>
            </a:endParaRPr>
          </a:p>
          <a:p>
            <a:pPr marL="213480" indent="-213480">
              <a:buClr>
                <a:srgbClr val="000000"/>
              </a:buClr>
              <a:buSzPct val="45000"/>
              <a:buFont typeface=""/>
              <a:buChar char=""/>
            </a:pPr>
            <a:r>
              <a:rPr lang="en-US" sz="1500" b="1" strike="noStrike" spc="-1">
                <a:solidFill>
                  <a:srgbClr val="000000"/>
                </a:solidFill>
                <a:latin typeface="Times New Roman" panose="02020603050405020304" pitchFamily="18" charset="0"/>
                <a:ea typeface="Times New Roman" panose="02020603050405020304" pitchFamily="18" charset="0"/>
              </a:rPr>
              <a:t>Shenandoah:</a:t>
            </a:r>
            <a:r>
              <a:rPr lang="en-US" sz="1500" b="0" strike="noStrike" spc="-1">
                <a:solidFill>
                  <a:srgbClr val="000000"/>
                </a:solidFill>
                <a:latin typeface="Times New Roman" panose="02020603050405020304" pitchFamily="18" charset="0"/>
                <a:ea typeface="Times New Roman" panose="02020603050405020304" pitchFamily="18" charset="0"/>
              </a:rPr>
              <a:t> Avg Pause ~18ms | Throughput ~89% | CPU ~80% — low latency concurrent.</a:t>
            </a:r>
            <a:endParaRPr lang="en-US" sz="1500" b="0" strike="noStrike" spc="-1">
              <a:solidFill>
                <a:srgbClr val="000000"/>
              </a:solidFill>
              <a:latin typeface="Times New Roman" panose="02020603050405020304" pitchFamily="18" charset="0"/>
            </a:endParaRPr>
          </a:p>
        </p:txBody>
      </p:sp>
      <p:sp>
        <p:nvSpPr>
          <p:cNvPr id="54" name="TextBox 53"/>
          <p:cNvSpPr txBox="1"/>
          <p:nvPr/>
        </p:nvSpPr>
        <p:spPr>
          <a:xfrm>
            <a:off x="45720" y="-184680"/>
            <a:ext cx="157320" cy="369360"/>
          </a:xfrm>
          <a:prstGeom prst="rect">
            <a:avLst/>
          </a:prstGeom>
          <a:noFill/>
          <a:ln w="0">
            <a:noFill/>
          </a:ln>
        </p:spPr>
        <p:txBody>
          <a:bodyPr lIns="90000" tIns="45000" rIns="90000" bIns="45000" anchor="t">
            <a:normAutofit/>
          </a:bodyPr>
          <a:lstStyle/>
          <a:p>
            <a:r>
              <a:rPr lang="en-US" sz="1500" b="0" strike="noStrike" spc="-1">
                <a:solidFill>
                  <a:srgbClr val="000000"/>
                </a:solidFill>
                <a:latin typeface="Times New Roman" panose="02020603050405020304" pitchFamily="18" charset="0"/>
                <a:ea typeface="Times New Roman" panose="02020603050405020304" pitchFamily="18" charset="0"/>
              </a:rPr>
              <a:t>.</a:t>
            </a:r>
            <a:endParaRPr lang="en-US" sz="1500" b="0" strike="noStrike" spc="-1">
              <a:solidFill>
                <a:srgbClr val="000000"/>
              </a:solidFill>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TextBox 54"/>
          <p:cNvSpPr txBox="1"/>
          <p:nvPr/>
        </p:nvSpPr>
        <p:spPr>
          <a:xfrm>
            <a:off x="164520" y="152280"/>
            <a:ext cx="5651640" cy="492480"/>
          </a:xfrm>
          <a:prstGeom prst="rect">
            <a:avLst/>
          </a:prstGeom>
          <a:noFill/>
          <a:ln w="0">
            <a:noFill/>
          </a:ln>
        </p:spPr>
        <p:txBody>
          <a:bodyPr lIns="90000" tIns="45000" rIns="90000" bIns="45000" anchor="t">
            <a:normAutofit fontScale="83888"/>
          </a:bodyPr>
          <a:lstStyle/>
          <a:p>
            <a:r>
              <a:rPr lang="en-US" sz="3200" b="0" strike="noStrike" spc="-1">
                <a:solidFill>
                  <a:srgbClr val="000000"/>
                </a:solidFill>
                <a:latin typeface="Times New Roman" panose="02020603050405020304" pitchFamily="18" charset="0"/>
                <a:ea typeface="Times New Roman" panose="02020603050405020304" pitchFamily="18" charset="0"/>
              </a:rPr>
              <a:t>G1 GC — Benchmark Output</a:t>
            </a:r>
            <a:endParaRPr lang="en-US" sz="3200" b="0" strike="noStrike" spc="-1">
              <a:solidFill>
                <a:srgbClr val="000000"/>
              </a:solidFill>
              <a:latin typeface="Times New Roman" panose="02020603050405020304" pitchFamily="18" charset="0"/>
            </a:endParaRPr>
          </a:p>
        </p:txBody>
      </p:sp>
      <p:sp>
        <p:nvSpPr>
          <p:cNvPr id="56" name="TextBox 55"/>
          <p:cNvSpPr txBox="1"/>
          <p:nvPr/>
        </p:nvSpPr>
        <p:spPr>
          <a:xfrm>
            <a:off x="176040" y="990720"/>
            <a:ext cx="8586720" cy="5486400"/>
          </a:xfrm>
          <a:prstGeom prst="rect">
            <a:avLst/>
          </a:prstGeom>
          <a:noFill/>
          <a:ln w="0">
            <a:noFill/>
          </a:ln>
        </p:spPr>
        <p:txBody>
          <a:bodyPr lIns="90000" tIns="45000" rIns="90000" bIns="45000" anchor="t">
            <a:normAutofit/>
          </a:bodyPr>
          <a:lstStyle/>
          <a:p>
            <a:r>
              <a:rPr lang="en-US" sz="1600" b="0" strike="noStrike" spc="-1">
                <a:solidFill>
                  <a:srgbClr val="000000"/>
                </a:solidFill>
                <a:latin typeface="Times New Roman" panose="02020603050405020304" pitchFamily="18" charset="0"/>
                <a:ea typeface="Times New Roman" panose="02020603050405020304" pitchFamily="18" charset="0"/>
              </a:rPr>
              <a:t>G1 GC run with -XX:+UseG1GC | Heap: -Xms2g -Xmx2g | 5 warm-up + 15 measured rounds</a:t>
            </a:r>
            <a:endParaRPr lang="en-US" sz="1600" b="0" strike="noStrike" spc="-1">
              <a:solidFill>
                <a:srgbClr val="000000"/>
              </a:solidFill>
              <a:latin typeface="Times New Roman" panose="02020603050405020304" pitchFamily="18" charset="0"/>
            </a:endParaRPr>
          </a:p>
        </p:txBody>
      </p:sp>
      <p:pic>
        <p:nvPicPr>
          <p:cNvPr id="57" name="Picture 56"/>
          <p:cNvPicPr/>
          <p:nvPr/>
        </p:nvPicPr>
        <p:blipFill>
          <a:blip r:embed="rId2"/>
          <a:stretch/>
        </p:blipFill>
        <p:spPr>
          <a:xfrm>
            <a:off x="1078560" y="2362320"/>
            <a:ext cx="6781680" cy="378216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TextBox 57"/>
          <p:cNvSpPr txBox="1"/>
          <p:nvPr/>
        </p:nvSpPr>
        <p:spPr>
          <a:xfrm>
            <a:off x="164520" y="152280"/>
            <a:ext cx="6289920" cy="492480"/>
          </a:xfrm>
          <a:prstGeom prst="rect">
            <a:avLst/>
          </a:prstGeom>
          <a:noFill/>
          <a:ln w="0">
            <a:noFill/>
          </a:ln>
        </p:spPr>
        <p:txBody>
          <a:bodyPr lIns="90000" tIns="45000" rIns="90000" bIns="45000" anchor="t">
            <a:normAutofit fontScale="83888"/>
          </a:bodyPr>
          <a:lstStyle/>
          <a:p>
            <a:r>
              <a:rPr lang="en-US" sz="3200" b="0" strike="noStrike" spc="-1">
                <a:solidFill>
                  <a:srgbClr val="000000"/>
                </a:solidFill>
                <a:latin typeface="Times New Roman" panose="02020603050405020304" pitchFamily="18" charset="0"/>
                <a:ea typeface="Times New Roman" panose="02020603050405020304" pitchFamily="18" charset="0"/>
              </a:rPr>
              <a:t>Parallel GC — Benchmark Output</a:t>
            </a:r>
            <a:endParaRPr lang="en-US" sz="3200" b="0" strike="noStrike" spc="-1">
              <a:solidFill>
                <a:srgbClr val="000000"/>
              </a:solidFill>
              <a:latin typeface="Times New Roman" panose="02020603050405020304" pitchFamily="18" charset="0"/>
            </a:endParaRPr>
          </a:p>
        </p:txBody>
      </p:sp>
      <p:sp>
        <p:nvSpPr>
          <p:cNvPr id="59" name="TextBox 58"/>
          <p:cNvSpPr txBox="1"/>
          <p:nvPr/>
        </p:nvSpPr>
        <p:spPr>
          <a:xfrm>
            <a:off x="176040" y="990720"/>
            <a:ext cx="8586720" cy="5486400"/>
          </a:xfrm>
          <a:prstGeom prst="rect">
            <a:avLst/>
          </a:prstGeom>
          <a:noFill/>
          <a:ln w="0">
            <a:noFill/>
          </a:ln>
        </p:spPr>
        <p:txBody>
          <a:bodyPr lIns="90000" tIns="45000" rIns="90000" bIns="45000" anchor="t">
            <a:normAutofit/>
          </a:bodyPr>
          <a:lstStyle/>
          <a:p>
            <a:r>
              <a:rPr lang="en-US" sz="1600" b="0" strike="noStrike" spc="-1">
                <a:solidFill>
                  <a:srgbClr val="000000"/>
                </a:solidFill>
                <a:latin typeface="Times New Roman" panose="02020603050405020304" pitchFamily="18" charset="0"/>
                <a:ea typeface="Times New Roman" panose="02020603050405020304" pitchFamily="18" charset="0"/>
              </a:rPr>
              <a:t>Parallel GC run with -XX:+UseParallelGC | Heap: -Xms2g -Xmx2g | 5 warm-up + 15 measured rounds</a:t>
            </a:r>
            <a:endParaRPr lang="en-US" sz="1600" b="0" strike="noStrike" spc="-1">
              <a:solidFill>
                <a:srgbClr val="000000"/>
              </a:solidFill>
              <a:latin typeface="Times New Roman" panose="02020603050405020304" pitchFamily="18" charset="0"/>
            </a:endParaRPr>
          </a:p>
        </p:txBody>
      </p:sp>
      <p:pic>
        <p:nvPicPr>
          <p:cNvPr id="60" name="Picture 59"/>
          <p:cNvPicPr/>
          <p:nvPr/>
        </p:nvPicPr>
        <p:blipFill>
          <a:blip r:embed="rId2"/>
          <a:stretch/>
        </p:blipFill>
        <p:spPr>
          <a:xfrm>
            <a:off x="1078560" y="2362320"/>
            <a:ext cx="6781680" cy="378216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1" name="Picture 60"/>
          <p:cNvPicPr/>
          <p:nvPr/>
        </p:nvPicPr>
        <p:blipFill>
          <a:blip r:embed="rId2"/>
          <a:stretch/>
        </p:blipFill>
        <p:spPr>
          <a:xfrm>
            <a:off x="723960" y="1523880"/>
            <a:ext cx="7696080" cy="4414680"/>
          </a:xfrm>
          <a:prstGeom prst="rect">
            <a:avLst/>
          </a:prstGeom>
          <a:ln w="0">
            <a:noFill/>
          </a:ln>
        </p:spPr>
      </p:pic>
      <p:sp>
        <p:nvSpPr>
          <p:cNvPr id="62" name="TextBox 61"/>
          <p:cNvSpPr txBox="1"/>
          <p:nvPr/>
        </p:nvSpPr>
        <p:spPr>
          <a:xfrm>
            <a:off x="198000" y="152280"/>
            <a:ext cx="6294960" cy="609480"/>
          </a:xfrm>
          <a:prstGeom prst="rect">
            <a:avLst/>
          </a:prstGeom>
          <a:noFill/>
          <a:ln w="0">
            <a:noFill/>
          </a:ln>
        </p:spPr>
        <p:txBody>
          <a:bodyPr lIns="90000" tIns="45000" rIns="90000" bIns="45000" anchor="t">
            <a:noAutofit/>
          </a:bodyPr>
          <a:lstStyle/>
          <a:p>
            <a:r>
              <a:rPr lang="en-US" sz="2400" b="1" strike="noStrike" spc="-1">
                <a:solidFill>
                  <a:srgbClr val="000000"/>
                </a:solidFill>
                <a:latin typeface="Times New Roman" panose="02020603050405020304" pitchFamily="18" charset="0"/>
                <a:ea typeface="Times New Roman" panose="02020603050405020304" pitchFamily="18" charset="0"/>
              </a:rPr>
              <a:t>Serial GC — Benchmark Output</a:t>
            </a:r>
            <a:endParaRPr lang="en-US" sz="2400" b="0" strike="noStrike" spc="-1">
              <a:solidFill>
                <a:srgbClr val="000000"/>
              </a:solidFill>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TextBox 62"/>
          <p:cNvSpPr txBox="1"/>
          <p:nvPr/>
        </p:nvSpPr>
        <p:spPr>
          <a:xfrm>
            <a:off x="164520" y="152280"/>
            <a:ext cx="5651640" cy="492480"/>
          </a:xfrm>
          <a:prstGeom prst="rect">
            <a:avLst/>
          </a:prstGeom>
          <a:noFill/>
          <a:ln w="0">
            <a:noFill/>
          </a:ln>
        </p:spPr>
        <p:txBody>
          <a:bodyPr lIns="90000" tIns="45000" rIns="90000" bIns="45000" anchor="t">
            <a:normAutofit fontScale="83888"/>
          </a:bodyPr>
          <a:lstStyle/>
          <a:p>
            <a:r>
              <a:rPr lang="en-US" sz="3200" b="0" strike="noStrike" spc="-1">
                <a:solidFill>
                  <a:srgbClr val="000000"/>
                </a:solidFill>
                <a:latin typeface="Times New Roman" panose="02020603050405020304" pitchFamily="18" charset="0"/>
                <a:ea typeface="Times New Roman" panose="02020603050405020304" pitchFamily="18" charset="0"/>
              </a:rPr>
              <a:t>printSummary() Method</a:t>
            </a:r>
            <a:endParaRPr lang="en-US" sz="3200" b="0" strike="noStrike" spc="-1">
              <a:solidFill>
                <a:srgbClr val="000000"/>
              </a:solidFill>
              <a:latin typeface="Times New Roman" panose="02020603050405020304" pitchFamily="18" charset="0"/>
            </a:endParaRPr>
          </a:p>
        </p:txBody>
      </p:sp>
      <p:sp>
        <p:nvSpPr>
          <p:cNvPr id="64" name="TextBox 63"/>
          <p:cNvSpPr txBox="1"/>
          <p:nvPr/>
        </p:nvSpPr>
        <p:spPr>
          <a:xfrm>
            <a:off x="176040" y="990720"/>
            <a:ext cx="8586720" cy="5486400"/>
          </a:xfrm>
          <a:prstGeom prst="rect">
            <a:avLst/>
          </a:prstGeom>
          <a:noFill/>
          <a:ln w="0">
            <a:noFill/>
          </a:ln>
        </p:spPr>
        <p:txBody>
          <a:bodyPr lIns="90000" tIns="45000" rIns="90000" bIns="45000" anchor="t">
            <a:normAutofit/>
          </a:bodyPr>
          <a:lstStyle/>
          <a:p>
            <a:r>
              <a:rPr lang="en-US" sz="1600" b="0" strike="noStrike" spc="-1">
                <a:solidFill>
                  <a:srgbClr val="000000"/>
                </a:solidFill>
                <a:latin typeface="Times New Roman" panose="02020603050405020304" pitchFamily="18" charset="0"/>
                <a:ea typeface="Times New Roman" panose="02020603050405020304" pitchFamily="18" charset="0"/>
              </a:rPr>
              <a:t>printSummary() iterates Result list: accumulates exec, pause, throughput, CPU, memory, GC stats; tracks min/max exec time.</a:t>
            </a:r>
            <a:endParaRPr lang="en-US" sz="1600" b="0" strike="noStrike" spc="-1">
              <a:solidFill>
                <a:srgbClr val="000000"/>
              </a:solidFill>
              <a:latin typeface="Times New Roman" panose="02020603050405020304" pitchFamily="18" charset="0"/>
            </a:endParaRPr>
          </a:p>
        </p:txBody>
      </p:sp>
      <p:pic>
        <p:nvPicPr>
          <p:cNvPr id="65" name="Picture 64"/>
          <p:cNvPicPr/>
          <p:nvPr/>
        </p:nvPicPr>
        <p:blipFill>
          <a:blip r:embed="rId2"/>
          <a:stretch/>
        </p:blipFill>
        <p:spPr>
          <a:xfrm>
            <a:off x="1078560" y="2362320"/>
            <a:ext cx="6781680" cy="378216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TextBox 65"/>
          <p:cNvSpPr txBox="1"/>
          <p:nvPr/>
        </p:nvSpPr>
        <p:spPr>
          <a:xfrm>
            <a:off x="164520" y="152280"/>
            <a:ext cx="5651640" cy="492480"/>
          </a:xfrm>
          <a:prstGeom prst="rect">
            <a:avLst/>
          </a:prstGeom>
          <a:noFill/>
          <a:ln w="0">
            <a:noFill/>
          </a:ln>
        </p:spPr>
        <p:txBody>
          <a:bodyPr lIns="90000" tIns="45000" rIns="90000" bIns="45000" anchor="t">
            <a:normAutofit fontScale="83888"/>
          </a:bodyPr>
          <a:lstStyle/>
          <a:p>
            <a:r>
              <a:rPr lang="en-US" sz="3200" b="0" strike="noStrike" spc="-1">
                <a:solidFill>
                  <a:srgbClr val="000000"/>
                </a:solidFill>
                <a:latin typeface="Times New Roman" panose="02020603050405020304" pitchFamily="18" charset="0"/>
                <a:ea typeface="Times New Roman" panose="02020603050405020304" pitchFamily="18" charset="0"/>
              </a:rPr>
              <a:t>captureGCStats() Method</a:t>
            </a:r>
            <a:endParaRPr lang="en-US" sz="3200" b="0" strike="noStrike" spc="-1">
              <a:solidFill>
                <a:srgbClr val="000000"/>
              </a:solidFill>
              <a:latin typeface="Times New Roman" panose="02020603050405020304" pitchFamily="18" charset="0"/>
            </a:endParaRPr>
          </a:p>
        </p:txBody>
      </p:sp>
      <p:sp>
        <p:nvSpPr>
          <p:cNvPr id="67" name="TextBox 66"/>
          <p:cNvSpPr txBox="1"/>
          <p:nvPr/>
        </p:nvSpPr>
        <p:spPr>
          <a:xfrm>
            <a:off x="176040" y="990720"/>
            <a:ext cx="8586720" cy="5486400"/>
          </a:xfrm>
          <a:prstGeom prst="rect">
            <a:avLst/>
          </a:prstGeom>
          <a:noFill/>
          <a:ln w="0">
            <a:noFill/>
          </a:ln>
        </p:spPr>
        <p:txBody>
          <a:bodyPr lIns="90000" tIns="45000" rIns="90000" bIns="45000" anchor="t">
            <a:normAutofit/>
          </a:bodyPr>
          <a:lstStyle/>
          <a:p>
            <a:r>
              <a:rPr lang="en-US" sz="1600" b="0" strike="noStrike" spc="-1">
                <a:solidFill>
                  <a:srgbClr val="000000"/>
                </a:solidFill>
                <a:latin typeface="Times New Roman" panose="02020603050405020304" pitchFamily="18" charset="0"/>
                <a:ea typeface="Times New Roman" panose="02020603050405020304" pitchFamily="18" charset="0"/>
              </a:rPr>
              <a:t>captureGCStats() queries GarbageCollectorMXBeans to compute total GC collection count and total collection time in ms.</a:t>
            </a:r>
            <a:endParaRPr lang="en-US" sz="1600" b="0" strike="noStrike" spc="-1">
              <a:solidFill>
                <a:srgbClr val="000000"/>
              </a:solidFill>
              <a:latin typeface="Times New Roman" panose="02020603050405020304" pitchFamily="18" charset="0"/>
            </a:endParaRPr>
          </a:p>
        </p:txBody>
      </p:sp>
      <p:pic>
        <p:nvPicPr>
          <p:cNvPr id="68" name="Picture 67"/>
          <p:cNvPicPr/>
          <p:nvPr/>
        </p:nvPicPr>
        <p:blipFill>
          <a:blip r:embed="rId2"/>
          <a:stretch/>
        </p:blipFill>
        <p:spPr>
          <a:xfrm>
            <a:off x="1078560" y="2362320"/>
            <a:ext cx="6781680" cy="378216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TextBox 68"/>
          <p:cNvSpPr txBox="1"/>
          <p:nvPr/>
        </p:nvSpPr>
        <p:spPr>
          <a:xfrm>
            <a:off x="164520" y="152280"/>
            <a:ext cx="6384960" cy="487440"/>
          </a:xfrm>
          <a:prstGeom prst="rect">
            <a:avLst/>
          </a:prstGeom>
          <a:noFill/>
          <a:ln w="0">
            <a:noFill/>
          </a:ln>
        </p:spPr>
        <p:txBody>
          <a:bodyPr lIns="90000" tIns="45000" rIns="90000" bIns="45000" anchor="t">
            <a:normAutofit fontScale="81111"/>
          </a:bodyPr>
          <a:lstStyle/>
          <a:p>
            <a:r>
              <a:rPr lang="en-US" sz="3200" b="0" strike="noStrike" spc="-1">
                <a:solidFill>
                  <a:srgbClr val="000000"/>
                </a:solidFill>
                <a:latin typeface="Times New Roman" panose="02020603050405020304" pitchFamily="18" charset="0"/>
                <a:ea typeface="Times New Roman" panose="02020603050405020304" pitchFamily="18" charset="0"/>
              </a:rPr>
              <a:t>G1 GC — Final Summary Output </a:t>
            </a:r>
            <a:endParaRPr lang="en-US" sz="3200" b="0" strike="noStrike" spc="-1">
              <a:solidFill>
                <a:srgbClr val="000000"/>
              </a:solidFill>
              <a:latin typeface="Times New Roman" panose="02020603050405020304" pitchFamily="18" charset="0"/>
            </a:endParaRPr>
          </a:p>
        </p:txBody>
      </p:sp>
      <p:pic>
        <p:nvPicPr>
          <p:cNvPr id="70" name="Picture 69"/>
          <p:cNvPicPr/>
          <p:nvPr/>
        </p:nvPicPr>
        <p:blipFill>
          <a:blip r:embed="rId2"/>
          <a:stretch/>
        </p:blipFill>
        <p:spPr>
          <a:xfrm>
            <a:off x="1078560" y="2362320"/>
            <a:ext cx="6781680" cy="37821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TextBox 70"/>
          <p:cNvSpPr txBox="1"/>
          <p:nvPr/>
        </p:nvSpPr>
        <p:spPr>
          <a:xfrm>
            <a:off x="3132720" y="3080520"/>
            <a:ext cx="3037320" cy="848520"/>
          </a:xfrm>
          <a:prstGeom prst="rect">
            <a:avLst/>
          </a:prstGeom>
          <a:noFill/>
          <a:ln w="0">
            <a:noFill/>
          </a:ln>
        </p:spPr>
        <p:txBody>
          <a:bodyPr lIns="90000" tIns="45000" rIns="90000" bIns="45000" anchor="t">
            <a:normAutofit fontScale="79444"/>
          </a:bodyPr>
          <a:lstStyle/>
          <a:p>
            <a:r>
              <a:rPr lang="en-US" sz="5400" b="0" strike="noStrike" spc="-1">
                <a:solidFill>
                  <a:srgbClr val="000000"/>
                </a:solidFill>
                <a:latin typeface="Times New Roman" panose="02020603050405020304" pitchFamily="18" charset="0"/>
                <a:ea typeface="Times New Roman" panose="02020603050405020304" pitchFamily="18" charset="0"/>
              </a:rPr>
              <a:t>Thank You</a:t>
            </a:r>
            <a:endParaRPr lang="en-US" sz="5400" b="0" strike="noStrike" spc="-1">
              <a:solidFill>
                <a:srgbClr val="000000"/>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1177</Words>
  <Application>Microsoft Office PowerPoint</Application>
  <PresentationFormat>On-screen Show (4:3)</PresentationFormat>
  <Paragraphs>94</Paragraphs>
  <Slides>15</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15</vt:i4>
      </vt:variant>
    </vt:vector>
  </HeadingPairs>
  <TitlesOfParts>
    <vt:vector size="22" baseType="lpstr">
      <vt:lpstr>Arial</vt:lpstr>
      <vt:lpstr>Symbol</vt:lpstr>
      <vt:lpstr>Times New Roman</vt:lpstr>
      <vt:lpstr>Wingdings</vt:lpstr>
      <vt:lpstr>Office</vt:lpstr>
      <vt:lpstr>Office</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Divyanjali singla</cp:lastModifiedBy>
  <cp:revision>1</cp:revision>
  <dcterms:modified xsi:type="dcterms:W3CDTF">2026-05-15T21:32:21Z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